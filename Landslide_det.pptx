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54" r:id="rId1"/>
  </p:sldMasterIdLst>
  <p:notesMasterIdLst>
    <p:notesMasterId r:id="rId27"/>
  </p:notesMasterIdLst>
  <p:sldIdLst>
    <p:sldId id="277" r:id="rId2"/>
    <p:sldId id="278" r:id="rId3"/>
    <p:sldId id="279" r:id="rId4"/>
    <p:sldId id="281" r:id="rId5"/>
    <p:sldId id="282" r:id="rId6"/>
    <p:sldId id="283" r:id="rId7"/>
    <p:sldId id="284" r:id="rId8"/>
    <p:sldId id="285" r:id="rId9"/>
    <p:sldId id="286" r:id="rId10"/>
    <p:sldId id="290" r:id="rId11"/>
    <p:sldId id="287" r:id="rId12"/>
    <p:sldId id="289" r:id="rId13"/>
    <p:sldId id="292" r:id="rId14"/>
    <p:sldId id="295" r:id="rId15"/>
    <p:sldId id="288" r:id="rId16"/>
    <p:sldId id="291" r:id="rId17"/>
    <p:sldId id="293" r:id="rId18"/>
    <p:sldId id="294" r:id="rId19"/>
    <p:sldId id="296" r:id="rId20"/>
    <p:sldId id="297" r:id="rId21"/>
    <p:sldId id="298" r:id="rId22"/>
    <p:sldId id="299" r:id="rId23"/>
    <p:sldId id="300" r:id="rId24"/>
    <p:sldId id="301" r:id="rId25"/>
    <p:sldId id="280"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2314"/>
    <a:srgbClr val="9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00" autoAdjust="0"/>
    <p:restoredTop sz="94660"/>
  </p:normalViewPr>
  <p:slideViewPr>
    <p:cSldViewPr>
      <p:cViewPr varScale="1">
        <p:scale>
          <a:sx n="78" d="100"/>
          <a:sy n="78" d="100"/>
        </p:scale>
        <p:origin x="173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84"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85"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86"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87"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8"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89"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pPr/>
              <a:t>‹#›</a:t>
            </a:fld>
            <a:endParaRPr lang="en-US"/>
          </a:p>
        </p:txBody>
      </p:sp>
    </p:spTree>
    <p:extLst>
      <p:ext uri="{BB962C8B-B14F-4D97-AF65-F5344CB8AC3E}">
        <p14:creationId xmlns:p14="http://schemas.microsoft.com/office/powerpoint/2010/main" val="425697426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5B0EA7-4C55-4800-997B-334142D6D42D}"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BA16E-23AF-47BE-BF01-1EF169E0D86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75B0EA7-4C55-4800-997B-334142D6D42D}"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BA16E-23AF-47BE-BF01-1EF169E0D863}"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75B0EA7-4C55-4800-997B-334142D6D42D}"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ABA16E-23AF-47BE-BF01-1EF169E0D86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75B0EA7-4C55-4800-997B-334142D6D42D}"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ABA16E-23AF-47BE-BF01-1EF169E0D86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C75B0EA7-4C55-4800-997B-334142D6D42D}"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ABA16E-23AF-47BE-BF01-1EF169E0D86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C75B0EA7-4C55-4800-997B-334142D6D42D}"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ABA16E-23AF-47BE-BF01-1EF169E0D863}"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75B0EA7-4C55-4800-997B-334142D6D42D}"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ABA16E-23AF-47BE-BF01-1EF169E0D86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C75B0EA7-4C55-4800-997B-334142D6D42D}"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ABA16E-23AF-47BE-BF01-1EF169E0D863}"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5B0EA7-4C55-4800-997B-334142D6D42D}"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BA16E-23AF-47BE-BF01-1EF169E0D86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75B0EA7-4C55-4800-997B-334142D6D42D}"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ABA16E-23AF-47BE-BF01-1EF169E0D86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C75B0EA7-4C55-4800-997B-334142D6D42D}" type="datetimeFigureOut">
              <a:rPr lang="en-US" smtClean="0"/>
              <a:pPr/>
              <a:t>4/17/2026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A3ABA16E-23AF-47BE-BF01-1EF169E0D863}"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transition spd="slow">
    <p:fade/>
  </p:transition>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researchgate.net/publication/354272548_Landslide_Detection_from_Open_Satellite_Imagery_Using_Distant_Domain_Transfer_Learning?utm_source=chatgpt.com" TargetMode="External"/><Relationship Id="rId2" Type="http://schemas.openxmlformats.org/officeDocument/2006/relationships/hyperlink" Target="https://www.mdpi.com/2072-4292/13/22/4698?utm_source=chatgpt.com" TargetMode="External"/><Relationship Id="rId1" Type="http://schemas.openxmlformats.org/officeDocument/2006/relationships/slideLayout" Target="../slideLayouts/slideLayout2.xml"/><Relationship Id="rId4" Type="http://schemas.openxmlformats.org/officeDocument/2006/relationships/hyperlink" Target="https://ris.utwente.nl/ws/portalfiles/portal/492888704/Delimitation_of_Landslide_Areas_in_Optical_Remote_Sensing_Images_Across_Regions_via_Deep_Transfer_Learning.pdf?utm_source=chatgpt.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pcv.whu.edu.cn/data/Bijie_pages.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mdpi.com/2072-4292/13/22/4698" TargetMode="External"/><Relationship Id="rId7" Type="http://schemas.openxmlformats.org/officeDocument/2006/relationships/hyperlink" Target="https://www.geeksforgeeks.org/machine-learning/" TargetMode="External"/><Relationship Id="rId2" Type="http://schemas.openxmlformats.org/officeDocument/2006/relationships/hyperlink" Target="https://www.researchgate.net/publication/357969745_Landslide_detection_using_deep_learning_and_object-based_image_analysis" TargetMode="External"/><Relationship Id="rId1" Type="http://schemas.openxmlformats.org/officeDocument/2006/relationships/slideLayout" Target="../slideLayouts/slideLayout2.xml"/><Relationship Id="rId6" Type="http://schemas.openxmlformats.org/officeDocument/2006/relationships/hyperlink" Target="https://earthdata.nasa.gov/" TargetMode="External"/><Relationship Id="rId5" Type="http://schemas.openxmlformats.org/officeDocument/2006/relationships/hyperlink" Target="https://ris.utwente.nl/ws/portalfiles/portal/492888704/Delimitation_of_Landslide_Areas_in_Optical_Remote_Sensing_Images_Across_Regions_via_Deep_Transfer_Learning.pdf" TargetMode="External"/><Relationship Id="rId4" Type="http://schemas.openxmlformats.org/officeDocument/2006/relationships/hyperlink" Target="https://www.mdpi.com/2072-4292/13/17/338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6FA6F39-87D4-FFFA-CF87-83602902BC47}"/>
              </a:ext>
            </a:extLst>
          </p:cNvPr>
          <p:cNvSpPr>
            <a:spLocks noGrp="1"/>
          </p:cNvSpPr>
          <p:nvPr>
            <p:ph idx="1"/>
          </p:nvPr>
        </p:nvSpPr>
        <p:spPr>
          <a:xfrm>
            <a:off x="1043608" y="404664"/>
            <a:ext cx="7499350" cy="4800600"/>
          </a:xfrm>
        </p:spPr>
        <p:txBody>
          <a:bodyPr>
            <a:normAutofit fontScale="92500"/>
          </a:bodyPr>
          <a:lstStyle/>
          <a:p>
            <a:pPr marL="82296" indent="0" algn="ctr">
              <a:buNone/>
            </a:pPr>
            <a:r>
              <a:rPr lang="en-US" sz="2600" dirty="0">
                <a:solidFill>
                  <a:srgbClr val="FFC000"/>
                </a:solidFill>
                <a:latin typeface="Times New Roman" pitchFamily="18" charset="0"/>
                <a:cs typeface="Times New Roman" pitchFamily="18" charset="0"/>
              </a:rPr>
              <a:t>TATYASAHEB KORE INSTITUTE OF ENGINEERING AND TECHNOLOGY WARANANAGAR</a:t>
            </a:r>
            <a:endParaRPr lang="en-US" sz="2600" dirty="0"/>
          </a:p>
          <a:p>
            <a:pPr marL="82296" indent="0" algn="ctr">
              <a:buNone/>
            </a:pPr>
            <a:r>
              <a:rPr lang="en-US" sz="2200" dirty="0">
                <a:solidFill>
                  <a:srgbClr val="00B0F0"/>
                </a:solidFill>
                <a:latin typeface="Times New Roman" pitchFamily="18" charset="0"/>
                <a:cs typeface="Times New Roman" pitchFamily="18" charset="0"/>
              </a:rPr>
              <a:t>Department Of Computer Science And Engineering</a:t>
            </a:r>
          </a:p>
          <a:p>
            <a:pPr marL="82296" indent="0" algn="ctr">
              <a:buNone/>
            </a:pPr>
            <a:endParaRPr lang="en-US" sz="1100" dirty="0">
              <a:solidFill>
                <a:srgbClr val="00B0F0"/>
              </a:solidFill>
              <a:latin typeface="Times New Roman" pitchFamily="18" charset="0"/>
              <a:cs typeface="Times New Roman" pitchFamily="18" charset="0"/>
            </a:endParaRPr>
          </a:p>
          <a:p>
            <a:pPr marL="82296" indent="0" algn="ctr">
              <a:buNone/>
            </a:pPr>
            <a:endParaRPr lang="en-US" sz="1100" dirty="0">
              <a:solidFill>
                <a:srgbClr val="00B0F0"/>
              </a:solidFill>
              <a:latin typeface="Times New Roman" pitchFamily="18" charset="0"/>
              <a:cs typeface="Times New Roman" pitchFamily="18" charset="0"/>
            </a:endParaRPr>
          </a:p>
          <a:p>
            <a:pPr marL="82296" indent="0" algn="ctr">
              <a:buNone/>
            </a:pPr>
            <a:endParaRPr lang="en-US" sz="1100" dirty="0">
              <a:solidFill>
                <a:srgbClr val="00B0F0"/>
              </a:solidFill>
              <a:latin typeface="Times New Roman" pitchFamily="18" charset="0"/>
              <a:cs typeface="Times New Roman" pitchFamily="18" charset="0"/>
            </a:endParaRPr>
          </a:p>
          <a:p>
            <a:pPr marL="82296" indent="0" algn="ctr">
              <a:buNone/>
            </a:pPr>
            <a:endParaRPr lang="en-US" sz="1000" dirty="0">
              <a:solidFill>
                <a:srgbClr val="00B0F0"/>
              </a:solidFill>
              <a:latin typeface="Times New Roman" pitchFamily="18" charset="0"/>
              <a:cs typeface="Times New Roman" pitchFamily="18" charset="0"/>
            </a:endParaRPr>
          </a:p>
          <a:p>
            <a:pPr marL="82296" indent="0" algn="ctr">
              <a:buNone/>
            </a:pPr>
            <a:endParaRPr lang="en-US" sz="1000" dirty="0">
              <a:solidFill>
                <a:srgbClr val="00B0F0"/>
              </a:solidFill>
              <a:latin typeface="Times New Roman" pitchFamily="18" charset="0"/>
              <a:cs typeface="Times New Roman" pitchFamily="18" charset="0"/>
            </a:endParaRPr>
          </a:p>
          <a:p>
            <a:pPr marL="82296" indent="0" algn="ctr">
              <a:buNone/>
            </a:pPr>
            <a:r>
              <a:rPr lang="en-IN" sz="1100" dirty="0">
                <a:latin typeface="Times New Roman" panose="02020603050405020304" pitchFamily="18" charset="0"/>
                <a:cs typeface="Times New Roman" panose="02020603050405020304" pitchFamily="18" charset="0"/>
              </a:rPr>
              <a:t>Academic Year 2025-26</a:t>
            </a:r>
            <a:endParaRPr lang="en-US" sz="1000" dirty="0">
              <a:solidFill>
                <a:srgbClr val="00B0F0"/>
              </a:solidFill>
              <a:latin typeface="Times New Roman" pitchFamily="18" charset="0"/>
              <a:cs typeface="Times New Roman" pitchFamily="18" charset="0"/>
            </a:endParaRPr>
          </a:p>
          <a:p>
            <a:pPr marL="82296" indent="0" algn="ctr">
              <a:buNone/>
            </a:pPr>
            <a:r>
              <a:rPr lang="en-US" sz="2000" dirty="0">
                <a:solidFill>
                  <a:schemeClr val="accent1">
                    <a:lumMod val="40000"/>
                    <a:lumOff val="60000"/>
                  </a:schemeClr>
                </a:solidFill>
                <a:latin typeface="Times New Roman" pitchFamily="18" charset="0"/>
                <a:cs typeface="Times New Roman" pitchFamily="18" charset="0"/>
              </a:rPr>
              <a:t>Presentation on ,</a:t>
            </a:r>
            <a:endParaRPr lang="en-US" sz="1000" dirty="0">
              <a:solidFill>
                <a:srgbClr val="00B0F0"/>
              </a:solidFill>
            </a:endParaRPr>
          </a:p>
          <a:p>
            <a:pPr marL="82296" indent="0" algn="ctr">
              <a:buNone/>
            </a:pPr>
            <a:endParaRPr lang="en-US" sz="1000" dirty="0">
              <a:solidFill>
                <a:srgbClr val="00B0F0"/>
              </a:solidFill>
            </a:endParaRPr>
          </a:p>
          <a:p>
            <a:pPr marL="82296" indent="0" algn="ctr">
              <a:buNone/>
            </a:pPr>
            <a:r>
              <a:rPr lang="en-US" dirty="0">
                <a:latin typeface="Times New Roman" pitchFamily="18" charset="0"/>
                <a:cs typeface="Times New Roman" pitchFamily="18" charset="0"/>
              </a:rPr>
              <a:t>“AI BASED LANDSLIDE DETECTION AND PREDICTION SYSTEM”</a:t>
            </a:r>
          </a:p>
          <a:p>
            <a:pPr marL="82296" indent="0" algn="ctr">
              <a:buNone/>
            </a:pPr>
            <a:endParaRPr lang="en-US" sz="1000" dirty="0">
              <a:latin typeface="Times New Roman" pitchFamily="18" charset="0"/>
              <a:cs typeface="Times New Roman" pitchFamily="18" charset="0"/>
            </a:endParaRPr>
          </a:p>
          <a:p>
            <a:pPr marL="82296" indent="0" algn="ctr">
              <a:buNone/>
            </a:pPr>
            <a:r>
              <a:rPr lang="en-US" sz="2000" dirty="0">
                <a:solidFill>
                  <a:schemeClr val="accent1">
                    <a:lumMod val="40000"/>
                    <a:lumOff val="60000"/>
                  </a:schemeClr>
                </a:solidFill>
                <a:latin typeface="Times New Roman" pitchFamily="18" charset="0"/>
                <a:cs typeface="Times New Roman" pitchFamily="18" charset="0"/>
              </a:rPr>
              <a:t>Presented by ,</a:t>
            </a:r>
          </a:p>
          <a:p>
            <a:pPr marL="82296" indent="0">
              <a:buNone/>
            </a:pPr>
            <a:endParaRPr lang="en-IN" dirty="0"/>
          </a:p>
        </p:txBody>
      </p:sp>
      <p:sp>
        <p:nvSpPr>
          <p:cNvPr id="6" name="Rectangle 5">
            <a:extLst>
              <a:ext uri="{FF2B5EF4-FFF2-40B4-BE49-F238E27FC236}">
                <a16:creationId xmlns:a16="http://schemas.microsoft.com/office/drawing/2014/main" id="{9BF98526-BD5A-C578-ED8B-96FA873D6CDD}"/>
              </a:ext>
            </a:extLst>
          </p:cNvPr>
          <p:cNvSpPr/>
          <p:nvPr/>
        </p:nvSpPr>
        <p:spPr>
          <a:xfrm>
            <a:off x="3985822" y="1664721"/>
            <a:ext cx="1614921" cy="993037"/>
          </a:xfrm>
          <a:prstGeom prst="rect">
            <a:avLst/>
          </a:prstGeom>
          <a:blipFill rotWithShape="0">
            <a:blip r:embed="rId2"/>
            <a:stretch>
              <a:fillRect/>
            </a:stretch>
          </a:blipFill>
          <a:ln w="25560">
            <a:solidFill>
              <a:srgbClr val="FFFFFF"/>
            </a:solidFill>
            <a:round/>
          </a:ln>
        </p:spPr>
        <p:style>
          <a:lnRef idx="0">
            <a:scrgbClr r="0" g="0" b="0"/>
          </a:lnRef>
          <a:fillRef idx="0">
            <a:scrgbClr r="0" g="0" b="0"/>
          </a:fillRef>
          <a:effectRef idx="0">
            <a:scrgbClr r="0" g="0" b="0"/>
          </a:effectRef>
          <a:fontRef idx="minor"/>
        </p:style>
        <p:txBody>
          <a:bodyPr/>
          <a:lstStyle/>
          <a:p>
            <a:endParaRPr lang="en-US"/>
          </a:p>
        </p:txBody>
      </p:sp>
      <p:graphicFrame>
        <p:nvGraphicFramePr>
          <p:cNvPr id="7" name="Table 6">
            <a:extLst>
              <a:ext uri="{FF2B5EF4-FFF2-40B4-BE49-F238E27FC236}">
                <a16:creationId xmlns:a16="http://schemas.microsoft.com/office/drawing/2014/main" id="{1B22C6C8-373F-C111-9B8B-059204648C6C}"/>
              </a:ext>
            </a:extLst>
          </p:cNvPr>
          <p:cNvGraphicFramePr>
            <a:graphicFrameLocks noGrp="1"/>
          </p:cNvGraphicFramePr>
          <p:nvPr>
            <p:extLst>
              <p:ext uri="{D42A27DB-BD31-4B8C-83A1-F6EECF244321}">
                <p14:modId xmlns:p14="http://schemas.microsoft.com/office/powerpoint/2010/main" val="987036480"/>
              </p:ext>
            </p:extLst>
          </p:nvPr>
        </p:nvGraphicFramePr>
        <p:xfrm>
          <a:off x="1745283" y="4818249"/>
          <a:ext cx="6096000" cy="1854200"/>
        </p:xfrm>
        <a:graphic>
          <a:graphicData uri="http://schemas.openxmlformats.org/drawingml/2006/table">
            <a:tbl>
              <a:tblPr firstRow="1" bandRow="1">
                <a:tableStyleId>{073A0DAA-6AF3-43AB-8588-CEC1D06C72B9}</a:tableStyleId>
              </a:tblPr>
              <a:tblGrid>
                <a:gridCol w="3048000">
                  <a:extLst>
                    <a:ext uri="{9D8B030D-6E8A-4147-A177-3AD203B41FA5}">
                      <a16:colId xmlns:a16="http://schemas.microsoft.com/office/drawing/2014/main" val="1174786126"/>
                    </a:ext>
                  </a:extLst>
                </a:gridCol>
                <a:gridCol w="3048000">
                  <a:extLst>
                    <a:ext uri="{9D8B030D-6E8A-4147-A177-3AD203B41FA5}">
                      <a16:colId xmlns:a16="http://schemas.microsoft.com/office/drawing/2014/main" val="3127941223"/>
                    </a:ext>
                  </a:extLst>
                </a:gridCol>
              </a:tblGrid>
              <a:tr h="370840">
                <a:tc>
                  <a:txBody>
                    <a:bodyPr/>
                    <a:lstStyle/>
                    <a:p>
                      <a:pPr algn="ctr"/>
                      <a:r>
                        <a:rPr lang="en-US" dirty="0"/>
                        <a:t>Name</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t>Roll No.</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619660"/>
                  </a:ext>
                </a:extLst>
              </a:tr>
              <a:tr h="370840">
                <a:tc>
                  <a:txBody>
                    <a:bodyPr/>
                    <a:lstStyle/>
                    <a:p>
                      <a:pPr algn="ctr"/>
                      <a:r>
                        <a:rPr lang="en-US" sz="1800" dirty="0" err="1"/>
                        <a:t>Vaishnavi</a:t>
                      </a:r>
                      <a:r>
                        <a:rPr lang="en-US" sz="1800" dirty="0"/>
                        <a:t> </a:t>
                      </a:r>
                      <a:r>
                        <a:rPr lang="en-US" sz="1800" dirty="0" err="1"/>
                        <a:t>Babaso</a:t>
                      </a:r>
                      <a:r>
                        <a:rPr lang="en-US" sz="1800" baseline="0" dirty="0"/>
                        <a:t> </a:t>
                      </a:r>
                      <a:r>
                        <a:rPr lang="en-US" sz="1800" dirty="0" err="1"/>
                        <a:t>Hirave</a:t>
                      </a:r>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dirty="0"/>
                        <a:t>48</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06862384"/>
                  </a:ext>
                </a:extLst>
              </a:tr>
              <a:tr h="370840">
                <a:tc>
                  <a:txBody>
                    <a:bodyPr/>
                    <a:lstStyle/>
                    <a:p>
                      <a:pPr algn="ctr"/>
                      <a:r>
                        <a:rPr lang="en-US" dirty="0" err="1"/>
                        <a:t>Akanksha</a:t>
                      </a:r>
                      <a:r>
                        <a:rPr lang="en-US" dirty="0"/>
                        <a:t> </a:t>
                      </a:r>
                      <a:r>
                        <a:rPr lang="en-US" dirty="0" err="1"/>
                        <a:t>Nivas</a:t>
                      </a:r>
                      <a:r>
                        <a:rPr lang="en-US" dirty="0"/>
                        <a:t> </a:t>
                      </a:r>
                      <a:r>
                        <a:rPr lang="en-US" dirty="0" err="1"/>
                        <a:t>Hujare</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t>50</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09269790"/>
                  </a:ext>
                </a:extLst>
              </a:tr>
              <a:tr h="370840">
                <a:tc>
                  <a:txBody>
                    <a:bodyPr/>
                    <a:lstStyle/>
                    <a:p>
                      <a:pPr algn="ctr"/>
                      <a:r>
                        <a:rPr kumimoji="0" lang="en-US" sz="1800" kern="1200" dirty="0" err="1">
                          <a:solidFill>
                            <a:schemeClr val="dk1"/>
                          </a:solidFill>
                        </a:rPr>
                        <a:t>Diksha</a:t>
                      </a:r>
                      <a:r>
                        <a:rPr kumimoji="0" lang="en-US" sz="1800" kern="1200" dirty="0">
                          <a:solidFill>
                            <a:schemeClr val="dk1"/>
                          </a:solidFill>
                        </a:rPr>
                        <a:t> </a:t>
                      </a:r>
                      <a:r>
                        <a:rPr kumimoji="0" lang="en-US" sz="1800" kern="1200" dirty="0" err="1">
                          <a:solidFill>
                            <a:schemeClr val="dk1"/>
                          </a:solidFill>
                        </a:rPr>
                        <a:t>Rajendra</a:t>
                      </a:r>
                      <a:r>
                        <a:rPr kumimoji="0" lang="en-US" sz="1800" kern="1200" dirty="0">
                          <a:solidFill>
                            <a:schemeClr val="dk1"/>
                          </a:solidFill>
                        </a:rPr>
                        <a:t> </a:t>
                      </a:r>
                      <a:r>
                        <a:rPr kumimoji="0" lang="en-US" sz="1800" kern="1200" dirty="0" err="1">
                          <a:solidFill>
                            <a:schemeClr val="dk1"/>
                          </a:solidFill>
                        </a:rPr>
                        <a:t>Karande</a:t>
                      </a:r>
                      <a:endParaRPr kumimoji="0" 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dirty="0"/>
                        <a:t>52</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94295660"/>
                  </a:ext>
                </a:extLst>
              </a:tr>
              <a:tr h="370840">
                <a:tc>
                  <a:txBody>
                    <a:bodyPr/>
                    <a:lstStyle/>
                    <a:p>
                      <a:pPr algn="ctr"/>
                      <a:r>
                        <a:rPr lang="en-US" dirty="0" err="1"/>
                        <a:t>Pallavi</a:t>
                      </a:r>
                      <a:r>
                        <a:rPr lang="en-US" dirty="0"/>
                        <a:t> </a:t>
                      </a:r>
                      <a:r>
                        <a:rPr lang="en-US" dirty="0" err="1"/>
                        <a:t>Shrimant</a:t>
                      </a:r>
                      <a:r>
                        <a:rPr lang="en-US" dirty="0"/>
                        <a:t> </a:t>
                      </a:r>
                      <a:r>
                        <a:rPr lang="en-US" dirty="0" err="1"/>
                        <a:t>Gavade</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t>70</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55888928"/>
                  </a:ext>
                </a:extLst>
              </a:tr>
            </a:tbl>
          </a:graphicData>
        </a:graphic>
      </p:graphicFrame>
    </p:spTree>
    <p:extLst>
      <p:ext uri="{BB962C8B-B14F-4D97-AF65-F5344CB8AC3E}">
        <p14:creationId xmlns:p14="http://schemas.microsoft.com/office/powerpoint/2010/main" val="3544018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A36A-4865-5C65-6D28-7270365FFF4B}"/>
              </a:ext>
            </a:extLst>
          </p:cNvPr>
          <p:cNvSpPr>
            <a:spLocks noGrp="1"/>
          </p:cNvSpPr>
          <p:nvPr>
            <p:ph type="title"/>
          </p:nvPr>
        </p:nvSpPr>
        <p:spPr/>
        <p:txBody>
          <a:bodyPr>
            <a:normAutofit/>
          </a:bodyPr>
          <a:lstStyle/>
          <a:p>
            <a:r>
              <a:rPr lang="en-IN" sz="4200" b="1" dirty="0">
                <a:solidFill>
                  <a:srgbClr val="002060"/>
                </a:solidFill>
                <a:latin typeface="Times New Roman" panose="02020603050405020304" pitchFamily="18" charset="0"/>
                <a:cs typeface="Times New Roman" panose="02020603050405020304" pitchFamily="18" charset="0"/>
              </a:rPr>
              <a:t>Introduction</a:t>
            </a:r>
          </a:p>
        </p:txBody>
      </p:sp>
      <p:pic>
        <p:nvPicPr>
          <p:cNvPr id="1026" name="Picture 2" descr="Mountain landslide in an environmentally hazardous area blocking road.">
            <a:extLst>
              <a:ext uri="{FF2B5EF4-FFF2-40B4-BE49-F238E27FC236}">
                <a16:creationId xmlns:a16="http://schemas.microsoft.com/office/drawing/2014/main" id="{B3A170E3-EEE6-B48B-64CD-E648FA7DE3F2}"/>
              </a:ext>
            </a:extLst>
          </p:cNvPr>
          <p:cNvPicPr>
            <a:picLocks noGrp="1" noChangeAspect="1" noChangeArrowheads="1"/>
          </p:cNvPicPr>
          <p:nvPr>
            <p:ph idx="1"/>
          </p:nvPr>
        </p:nvPicPr>
        <p:blipFill>
          <a:blip r:embed="rId2" cstate="print">
            <a:alphaModFix amt="20000"/>
            <a:extLst>
              <a:ext uri="{28A0092B-C50C-407E-A947-70E740481C1C}">
                <a14:useLocalDpi xmlns:a14="http://schemas.microsoft.com/office/drawing/2010/main" val="0"/>
              </a:ext>
            </a:extLst>
          </a:blip>
          <a:srcRect/>
          <a:stretch>
            <a:fillRect/>
          </a:stretch>
        </p:blipFill>
        <p:spPr bwMode="auto">
          <a:xfrm>
            <a:off x="1097500" y="1628800"/>
            <a:ext cx="7818072" cy="51355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D684622-C43F-8B19-AB45-96821144954D}"/>
              </a:ext>
            </a:extLst>
          </p:cNvPr>
          <p:cNvSpPr>
            <a:spLocks noChangeArrowheads="1"/>
          </p:cNvSpPr>
          <p:nvPr/>
        </p:nvSpPr>
        <p:spPr bwMode="auto">
          <a:xfrm>
            <a:off x="1252899" y="1303686"/>
            <a:ext cx="7507274" cy="4930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Landslides are one of the most dangerous natural disasters, causing severe damage to life and infrastructure.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detection is difficult due to unpredictable environmental conditions.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monitoring methods are slow and require manual observation.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the advancement of Artificial Intelligence, automated detection systems can improve accuracy and response time.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uses deep learning techniques to detect and highlight landslide-prone areas from images. </a:t>
            </a:r>
          </a:p>
        </p:txBody>
      </p:sp>
    </p:spTree>
    <p:extLst>
      <p:ext uri="{BB962C8B-B14F-4D97-AF65-F5344CB8AC3E}">
        <p14:creationId xmlns:p14="http://schemas.microsoft.com/office/powerpoint/2010/main" val="876549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2E803-32FE-4BD6-157D-0B51BD6CF4BB}"/>
              </a:ext>
            </a:extLst>
          </p:cNvPr>
          <p:cNvSpPr>
            <a:spLocks noGrp="1"/>
          </p:cNvSpPr>
          <p:nvPr>
            <p:ph type="title"/>
          </p:nvPr>
        </p:nvSpPr>
        <p:spPr/>
        <p:txBody>
          <a:bodyPr>
            <a:normAutofit/>
          </a:bodyPr>
          <a:lstStyle/>
          <a:p>
            <a:r>
              <a:rPr lang="en-IN" sz="4200" dirty="0">
                <a:solidFill>
                  <a:srgbClr val="002060"/>
                </a:solidFill>
                <a:latin typeface="Times New Roman" panose="02020603050405020304" pitchFamily="18" charset="0"/>
                <a:cs typeface="Times New Roman" panose="02020603050405020304" pitchFamily="18" charset="0"/>
              </a:rPr>
              <a:t>Literature Review</a:t>
            </a:r>
          </a:p>
        </p:txBody>
      </p:sp>
      <p:graphicFrame>
        <p:nvGraphicFramePr>
          <p:cNvPr id="4" name="Content Placeholder 3">
            <a:extLst>
              <a:ext uri="{FF2B5EF4-FFF2-40B4-BE49-F238E27FC236}">
                <a16:creationId xmlns:a16="http://schemas.microsoft.com/office/drawing/2014/main" id="{15686B62-1DF8-1D2D-813A-EA1BC98514E2}"/>
              </a:ext>
            </a:extLst>
          </p:cNvPr>
          <p:cNvGraphicFramePr>
            <a:graphicFrameLocks noGrp="1"/>
          </p:cNvGraphicFramePr>
          <p:nvPr>
            <p:ph idx="1"/>
            <p:extLst>
              <p:ext uri="{D42A27DB-BD31-4B8C-83A1-F6EECF244321}">
                <p14:modId xmlns:p14="http://schemas.microsoft.com/office/powerpoint/2010/main" val="1086822164"/>
              </p:ext>
            </p:extLst>
          </p:nvPr>
        </p:nvGraphicFramePr>
        <p:xfrm>
          <a:off x="1475656" y="1556792"/>
          <a:ext cx="6912768" cy="5130920"/>
        </p:xfrm>
        <a:graphic>
          <a:graphicData uri="http://schemas.openxmlformats.org/drawingml/2006/table">
            <a:tbl>
              <a:tblPr>
                <a:tableStyleId>{5202B0CA-FC54-4496-8BCA-5EF66A818D29}</a:tableStyleId>
              </a:tblPr>
              <a:tblGrid>
                <a:gridCol w="1728192">
                  <a:extLst>
                    <a:ext uri="{9D8B030D-6E8A-4147-A177-3AD203B41FA5}">
                      <a16:colId xmlns:a16="http://schemas.microsoft.com/office/drawing/2014/main" val="912567775"/>
                    </a:ext>
                  </a:extLst>
                </a:gridCol>
                <a:gridCol w="1728192">
                  <a:extLst>
                    <a:ext uri="{9D8B030D-6E8A-4147-A177-3AD203B41FA5}">
                      <a16:colId xmlns:a16="http://schemas.microsoft.com/office/drawing/2014/main" val="2104658756"/>
                    </a:ext>
                  </a:extLst>
                </a:gridCol>
                <a:gridCol w="1728192">
                  <a:extLst>
                    <a:ext uri="{9D8B030D-6E8A-4147-A177-3AD203B41FA5}">
                      <a16:colId xmlns:a16="http://schemas.microsoft.com/office/drawing/2014/main" val="1187146910"/>
                    </a:ext>
                  </a:extLst>
                </a:gridCol>
                <a:gridCol w="1728192">
                  <a:extLst>
                    <a:ext uri="{9D8B030D-6E8A-4147-A177-3AD203B41FA5}">
                      <a16:colId xmlns:a16="http://schemas.microsoft.com/office/drawing/2014/main" val="3926820497"/>
                    </a:ext>
                  </a:extLst>
                </a:gridCol>
              </a:tblGrid>
              <a:tr h="231354">
                <a:tc>
                  <a:txBody>
                    <a:bodyPr/>
                    <a:lstStyle/>
                    <a:p>
                      <a:pPr>
                        <a:buNone/>
                      </a:pPr>
                      <a:r>
                        <a:rPr lang="en-IN" sz="1400">
                          <a:latin typeface="Times New Roman" panose="02020603050405020304" pitchFamily="18" charset="0"/>
                          <a:cs typeface="Times New Roman" panose="02020603050405020304" pitchFamily="18" charset="0"/>
                        </a:rPr>
                        <a:t>Author &amp; Year</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Paper Title</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Contribution</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Limitations</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2592467"/>
                  </a:ext>
                </a:extLst>
              </a:tr>
              <a:tr h="1098933">
                <a:tc>
                  <a:txBody>
                    <a:bodyPr/>
                    <a:lstStyle/>
                    <a:p>
                      <a:pPr>
                        <a:buNone/>
                      </a:pPr>
                      <a:r>
                        <a:rPr lang="en-IN" sz="1400" dirty="0">
                          <a:latin typeface="Times New Roman" panose="02020603050405020304" pitchFamily="18" charset="0"/>
                          <a:cs typeface="Times New Roman" panose="02020603050405020304" pitchFamily="18" charset="0"/>
                        </a:rPr>
                        <a:t>Omid Ghorbanzadeh et al., 2019</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Landslide Detection Using Deep Learning and Object-Based Image Analysis</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Combines deep learning with object-based image analysis for accurate landslide mapping</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High computational complexity and requires expert tuning</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8470389"/>
                  </a:ext>
                </a:extLst>
              </a:tr>
              <a:tr h="1098933">
                <a:tc>
                  <a:txBody>
                    <a:bodyPr/>
                    <a:lstStyle/>
                    <a:p>
                      <a:pPr>
                        <a:buNone/>
                      </a:pPr>
                      <a:r>
                        <a:rPr lang="da-DK" sz="1400">
                          <a:latin typeface="Times New Roman" panose="02020603050405020304" pitchFamily="18" charset="0"/>
                          <a:cs typeface="Times New Roman" panose="02020603050405020304" pitchFamily="18" charset="0"/>
                        </a:rPr>
                        <a:t>Hamed Shahabi et al., 2021</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Unsupervised Deep Learning for Landslide Detection from Remote Sensing Images</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Introduces unsupervised deep learning to detect landslides without labeled data</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Lower accuracy compared to supervised models (</a:t>
                      </a:r>
                      <a:r>
                        <a:rPr lang="en-US" sz="1400">
                          <a:latin typeface="Times New Roman" panose="02020603050405020304" pitchFamily="18" charset="0"/>
                          <a:cs typeface="Times New Roman" panose="02020603050405020304" pitchFamily="18" charset="0"/>
                          <a:hlinkClick r:id="rId2" tooltip="Unsupervised Deep Learning for Landslide Detection from ..."/>
                        </a:rPr>
                        <a:t>MDPI</a:t>
                      </a:r>
                      <a:r>
                        <a:rPr lang="en-US" sz="1400">
                          <a:latin typeface="Times New Roman" panose="02020603050405020304" pitchFamily="18" charset="0"/>
                          <a:cs typeface="Times New Roman" panose="02020603050405020304" pitchFamily="18" charset="0"/>
                        </a:rPr>
                        <a:t>)</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687397"/>
                  </a:ext>
                </a:extLst>
              </a:tr>
              <a:tr h="1272448">
                <a:tc>
                  <a:txBody>
                    <a:bodyPr/>
                    <a:lstStyle/>
                    <a:p>
                      <a:pPr>
                        <a:buNone/>
                      </a:pPr>
                      <a:r>
                        <a:rPr lang="en-IN" sz="1400">
                          <a:latin typeface="Times New Roman" panose="02020603050405020304" pitchFamily="18" charset="0"/>
                          <a:cs typeface="Times New Roman" panose="02020603050405020304" pitchFamily="18" charset="0"/>
                        </a:rPr>
                        <a:t>S. Qin et al., 2021</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Landslide Detection from Open Satellite Imagery Using Distant Domain Transfer Learning</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Uses transfer learning + attention mechanism to improve detection with small datasets</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Needs pre-trained models and complex architecture (</a:t>
                      </a:r>
                      <a:r>
                        <a:rPr lang="en-US" sz="1400">
                          <a:latin typeface="Times New Roman" panose="02020603050405020304" pitchFamily="18" charset="0"/>
                          <a:cs typeface="Times New Roman" panose="02020603050405020304" pitchFamily="18" charset="0"/>
                          <a:hlinkClick r:id="rId3" tooltip="Landslide Detection from Open Satellite Imagery Using ..."/>
                        </a:rPr>
                        <a:t>ResearchGate</a:t>
                      </a:r>
                      <a:r>
                        <a:rPr lang="en-US" sz="1400">
                          <a:latin typeface="Times New Roman" panose="02020603050405020304" pitchFamily="18" charset="0"/>
                          <a:cs typeface="Times New Roman" panose="02020603050405020304" pitchFamily="18" charset="0"/>
                        </a:rPr>
                        <a:t>)</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6148781"/>
                  </a:ext>
                </a:extLst>
              </a:tr>
              <a:tr h="1098933">
                <a:tc>
                  <a:txBody>
                    <a:bodyPr/>
                    <a:lstStyle/>
                    <a:p>
                      <a:pPr>
                        <a:buNone/>
                      </a:pPr>
                      <a:r>
                        <a:rPr lang="nl-NL" sz="1400">
                          <a:latin typeface="Times New Roman" panose="02020603050405020304" pitchFamily="18" charset="0"/>
                          <a:cs typeface="Times New Roman" panose="02020603050405020304" pitchFamily="18" charset="0"/>
                        </a:rPr>
                        <a:t>Zan Wang et al., 2024</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Delimitation of Landslide Areas in Optical Remote Sensing Images via Deep Transfer Learning</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Compares U-Net and Mask R-CNN for landslide segmentation across regions</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Performance varies with dataset size and terrain diversity (</a:t>
                      </a:r>
                      <a:r>
                        <a:rPr lang="en-US" sz="1400" dirty="0">
                          <a:latin typeface="Times New Roman" panose="02020603050405020304" pitchFamily="18" charset="0"/>
                          <a:cs typeface="Times New Roman" panose="02020603050405020304" pitchFamily="18" charset="0"/>
                          <a:hlinkClick r:id="rId4" tooltip="Delimitation of Landslide Areas in Optical Remote Sensing ..."/>
                        </a:rPr>
                        <a:t>ris.utwente.nl</a:t>
                      </a:r>
                      <a:r>
                        <a:rPr lang="en-US" sz="1400" dirty="0">
                          <a:latin typeface="Times New Roman" panose="02020603050405020304" pitchFamily="18" charset="0"/>
                          <a:cs typeface="Times New Roman" panose="02020603050405020304" pitchFamily="18" charset="0"/>
                        </a:rPr>
                        <a:t>)</a:t>
                      </a:r>
                    </a:p>
                  </a:txBody>
                  <a:tcPr marL="57839" marR="57839" marT="28919" marB="28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0354689"/>
                  </a:ext>
                </a:extLst>
              </a:tr>
            </a:tbl>
          </a:graphicData>
        </a:graphic>
      </p:graphicFrame>
    </p:spTree>
    <p:extLst>
      <p:ext uri="{BB962C8B-B14F-4D97-AF65-F5344CB8AC3E}">
        <p14:creationId xmlns:p14="http://schemas.microsoft.com/office/powerpoint/2010/main" val="695046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B11F0-9F25-3F39-2174-A670F0A2B009}"/>
              </a:ext>
            </a:extLst>
          </p:cNvPr>
          <p:cNvSpPr>
            <a:spLocks noGrp="1"/>
          </p:cNvSpPr>
          <p:nvPr>
            <p:ph type="title"/>
          </p:nvPr>
        </p:nvSpPr>
        <p:spPr/>
        <p:txBody>
          <a:bodyPr>
            <a:normAutofit/>
          </a:bodyPr>
          <a:lstStyle/>
          <a:p>
            <a:r>
              <a:rPr lang="en-IN" sz="4000" b="1" dirty="0">
                <a:solidFill>
                  <a:srgbClr val="002060"/>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0FC4DAA7-5E35-1373-38CA-6F875755AAC7}"/>
              </a:ext>
            </a:extLst>
          </p:cNvPr>
          <p:cNvSpPr>
            <a:spLocks noGrp="1"/>
          </p:cNvSpPr>
          <p:nvPr>
            <p:ph idx="1"/>
          </p:nvPr>
        </p:nvSpPr>
        <p:spPr/>
        <p:txBody>
          <a:bodyPr>
            <a:normAutofit/>
          </a:bodyPr>
          <a:lstStyle/>
          <a:p>
            <a:pPr marL="82296" indent="0" algn="just">
              <a:buNone/>
            </a:pPr>
            <a:r>
              <a:rPr lang="en-US" sz="2400" dirty="0">
                <a:latin typeface="Times New Roman" panose="02020603050405020304" pitchFamily="18" charset="0"/>
                <a:cs typeface="Times New Roman" panose="02020603050405020304" pitchFamily="18" charset="0"/>
              </a:rPr>
              <a:t>Landslides cause severe damage to life and property, but early detection is challenging due to unpredictable conditions and reliance on manual methods. Existing systems are slow, less accurate, and lack real-time analysis, creating a need for an automated and intelligent detection system.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7985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89C65-7912-893B-2E9D-C15ECCE0D297}"/>
              </a:ext>
            </a:extLst>
          </p:cNvPr>
          <p:cNvSpPr>
            <a:spLocks noGrp="1"/>
          </p:cNvSpPr>
          <p:nvPr>
            <p:ph type="title"/>
          </p:nvPr>
        </p:nvSpPr>
        <p:spPr/>
        <p:txBody>
          <a:bodyPr>
            <a:normAutofit/>
          </a:bodyPr>
          <a:lstStyle/>
          <a:p>
            <a:r>
              <a:rPr lang="en-IN" sz="4000" b="1" dirty="0">
                <a:solidFill>
                  <a:srgbClr val="002060"/>
                </a:solidFill>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0AF05A50-11EC-35D6-A446-452649BB363E}"/>
              </a:ext>
            </a:extLst>
          </p:cNvPr>
          <p:cNvSpPr>
            <a:spLocks noGrp="1" noChangeArrowheads="1"/>
          </p:cNvSpPr>
          <p:nvPr>
            <p:ph idx="1"/>
          </p:nvPr>
        </p:nvSpPr>
        <p:spPr bwMode="auto">
          <a:xfrm>
            <a:off x="1141811" y="1772816"/>
            <a:ext cx="7791877" cy="3072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an AI-based system for landslide detection </a:t>
            </a:r>
          </a:p>
          <a:p>
            <a:pPr marL="285750" marR="0" lvl="0" indent="-28575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classify images as landslide or non-landslide </a:t>
            </a:r>
          </a:p>
          <a:p>
            <a:pPr marL="285750" marR="0" lvl="0" indent="-28575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build a user-friendly web interface for image upload </a:t>
            </a:r>
          </a:p>
          <a:p>
            <a:pPr marL="285750" marR="0" lvl="0" indent="-28575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store user data and prediction results in a database </a:t>
            </a:r>
          </a:p>
          <a:p>
            <a:pPr marL="285750" marR="0" lvl="0" indent="-28575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detection accuracy using deep learning models </a:t>
            </a:r>
          </a:p>
        </p:txBody>
      </p:sp>
    </p:spTree>
    <p:extLst>
      <p:ext uri="{BB962C8B-B14F-4D97-AF65-F5344CB8AC3E}">
        <p14:creationId xmlns:p14="http://schemas.microsoft.com/office/powerpoint/2010/main" val="2277296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FD088-6123-02F8-AF30-A38EF3EB36ED}"/>
              </a:ext>
            </a:extLst>
          </p:cNvPr>
          <p:cNvSpPr>
            <a:spLocks noGrp="1"/>
          </p:cNvSpPr>
          <p:nvPr>
            <p:ph type="title"/>
          </p:nvPr>
        </p:nvSpPr>
        <p:spPr/>
        <p:txBody>
          <a:bodyPr>
            <a:normAutofit/>
          </a:bodyPr>
          <a:lstStyle/>
          <a:p>
            <a:r>
              <a:rPr lang="en-IN" sz="4000" b="1" dirty="0">
                <a:solidFill>
                  <a:srgbClr val="002060"/>
                </a:solidFill>
                <a:latin typeface="Times New Roman" panose="02020603050405020304" pitchFamily="18" charset="0"/>
                <a:cs typeface="Times New Roman" panose="02020603050405020304" pitchFamily="18" charset="0"/>
              </a:rPr>
              <a:t>Motivation </a:t>
            </a:r>
          </a:p>
        </p:txBody>
      </p:sp>
      <p:sp>
        <p:nvSpPr>
          <p:cNvPr id="3" name="Content Placeholder 2">
            <a:extLst>
              <a:ext uri="{FF2B5EF4-FFF2-40B4-BE49-F238E27FC236}">
                <a16:creationId xmlns:a16="http://schemas.microsoft.com/office/drawing/2014/main" id="{408CB287-F262-A2BB-F13B-C9EB0DA2C1B7}"/>
              </a:ext>
            </a:extLst>
          </p:cNvPr>
          <p:cNvSpPr>
            <a:spLocks noGrp="1"/>
          </p:cNvSpPr>
          <p:nvPr>
            <p:ph idx="1"/>
          </p:nvPr>
        </p:nvSpPr>
        <p:spPr>
          <a:xfrm>
            <a:off x="1331640" y="1628800"/>
            <a:ext cx="7498080" cy="4800600"/>
          </a:xfrm>
        </p:spPr>
        <p:txBody>
          <a:bodyPr>
            <a:normAutofit/>
          </a:bodyPr>
          <a:lstStyle/>
          <a:p>
            <a:pPr algn="just"/>
            <a:r>
              <a:rPr lang="en-US" sz="2400" dirty="0">
                <a:latin typeface="Times New Roman" panose="02020603050405020304" pitchFamily="18" charset="0"/>
                <a:cs typeface="Times New Roman" panose="02020603050405020304" pitchFamily="18" charset="0"/>
              </a:rPr>
              <a:t>Landslides cause severe damage to life, property, and environment </a:t>
            </a:r>
          </a:p>
          <a:p>
            <a:pPr algn="just"/>
            <a:r>
              <a:rPr lang="en-US" sz="2400" dirty="0">
                <a:latin typeface="Times New Roman" panose="02020603050405020304" pitchFamily="18" charset="0"/>
                <a:cs typeface="Times New Roman" panose="02020603050405020304" pitchFamily="18" charset="0"/>
              </a:rPr>
              <a:t>Early detection is difficult using traditional methods </a:t>
            </a:r>
          </a:p>
          <a:p>
            <a:pPr algn="just"/>
            <a:r>
              <a:rPr lang="en-US" sz="2400" dirty="0">
                <a:latin typeface="Times New Roman" panose="02020603050405020304" pitchFamily="18" charset="0"/>
                <a:cs typeface="Times New Roman" panose="02020603050405020304" pitchFamily="18" charset="0"/>
              </a:rPr>
              <a:t>Existing systems lack automation and real-time analysis </a:t>
            </a:r>
          </a:p>
          <a:p>
            <a:pPr algn="just"/>
            <a:r>
              <a:rPr lang="en-US" sz="2400" dirty="0">
                <a:latin typeface="Times New Roman" panose="02020603050405020304" pitchFamily="18" charset="0"/>
                <a:cs typeface="Times New Roman" panose="02020603050405020304" pitchFamily="18" charset="0"/>
              </a:rPr>
              <a:t>Need for faster and more accurate prediction systems </a:t>
            </a:r>
          </a:p>
          <a:p>
            <a:pPr algn="just"/>
            <a:r>
              <a:rPr lang="en-US" sz="2400" dirty="0">
                <a:latin typeface="Times New Roman" panose="02020603050405020304" pitchFamily="18" charset="0"/>
                <a:cs typeface="Times New Roman" panose="02020603050405020304" pitchFamily="18" charset="0"/>
              </a:rPr>
              <a:t>Advancement in AI and deep learning enables smart detection </a:t>
            </a:r>
          </a:p>
          <a:p>
            <a:pPr algn="just"/>
            <a:r>
              <a:rPr lang="en-US" sz="2400" dirty="0">
                <a:latin typeface="Times New Roman" panose="02020603050405020304" pitchFamily="18" charset="0"/>
                <a:cs typeface="Times New Roman" panose="02020603050405020304" pitchFamily="18" charset="0"/>
              </a:rPr>
              <a:t>To develop a system that provides early warnings and improves safety </a:t>
            </a:r>
          </a:p>
        </p:txBody>
      </p:sp>
    </p:spTree>
    <p:extLst>
      <p:ext uri="{BB962C8B-B14F-4D97-AF65-F5344CB8AC3E}">
        <p14:creationId xmlns:p14="http://schemas.microsoft.com/office/powerpoint/2010/main" val="930450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273D2-A7A8-9AF1-9CC9-89AF5672A0ED}"/>
              </a:ext>
            </a:extLst>
          </p:cNvPr>
          <p:cNvSpPr>
            <a:spLocks noGrp="1"/>
          </p:cNvSpPr>
          <p:nvPr>
            <p:ph type="title"/>
          </p:nvPr>
        </p:nvSpPr>
        <p:spPr/>
        <p:txBody>
          <a:bodyPr>
            <a:normAutofit/>
          </a:bodyPr>
          <a:lstStyle/>
          <a:p>
            <a:r>
              <a:rPr lang="en-IN" sz="4000" b="1" dirty="0">
                <a:solidFill>
                  <a:srgbClr val="002060"/>
                </a:solidFill>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A31E4CBF-3AB5-780E-A404-C6452730CB52}"/>
              </a:ext>
            </a:extLst>
          </p:cNvPr>
          <p:cNvSpPr>
            <a:spLocks noGrp="1"/>
          </p:cNvSpPr>
          <p:nvPr>
            <p:ph idx="1"/>
          </p:nvPr>
        </p:nvSpPr>
        <p:spPr/>
        <p:txBody>
          <a:bodyPr>
            <a:normAutofit/>
          </a:bodyPr>
          <a:lstStyle/>
          <a:p>
            <a:pPr marL="82296" indent="0" algn="just">
              <a:buNone/>
            </a:pPr>
            <a:r>
              <a:rPr lang="en-US" sz="2400" dirty="0">
                <a:latin typeface="Times New Roman" panose="02020603050405020304" pitchFamily="18" charset="0"/>
                <a:cs typeface="Times New Roman" panose="02020603050405020304" pitchFamily="18" charset="0"/>
              </a:rPr>
              <a:t>Existing landslide detection methods mainly rely on manual observation, geological surveys, and traditional GIS-based analysis. These approaches require significant human effort, are time-consuming, and often fail to provide real-time results. Some systems use satellite data, but they depend on high-quality images and complex processing techniques. Overall, current systems lack automation, speed, and precise region detection, making them less effective in critical situations.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8662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5F757-1439-C46A-039D-AF9D3045D84A}"/>
              </a:ext>
            </a:extLst>
          </p:cNvPr>
          <p:cNvSpPr>
            <a:spLocks noGrp="1"/>
          </p:cNvSpPr>
          <p:nvPr>
            <p:ph type="title"/>
          </p:nvPr>
        </p:nvSpPr>
        <p:spPr/>
        <p:txBody>
          <a:bodyPr>
            <a:normAutofit/>
          </a:bodyPr>
          <a:lstStyle/>
          <a:p>
            <a:r>
              <a:rPr lang="en-IN" sz="4000" b="1" dirty="0">
                <a:solidFill>
                  <a:srgbClr val="002060"/>
                </a:solidFill>
                <a:latin typeface="Times New Roman" panose="02020603050405020304" pitchFamily="18" charset="0"/>
                <a:cs typeface="Times New Roman" panose="02020603050405020304" pitchFamily="18" charset="0"/>
              </a:rPr>
              <a:t>Block Diagram Of System</a:t>
            </a:r>
          </a:p>
        </p:txBody>
      </p:sp>
      <p:pic>
        <p:nvPicPr>
          <p:cNvPr id="5" name="Content Placeholder 4">
            <a:extLst>
              <a:ext uri="{FF2B5EF4-FFF2-40B4-BE49-F238E27FC236}">
                <a16:creationId xmlns:a16="http://schemas.microsoft.com/office/drawing/2014/main" id="{CBE9B1E6-D830-96D1-302F-72C002330740}"/>
              </a:ext>
            </a:extLst>
          </p:cNvPr>
          <p:cNvPicPr>
            <a:picLocks noGrp="1" noChangeAspect="1"/>
          </p:cNvPicPr>
          <p:nvPr>
            <p:ph idx="1"/>
          </p:nvPr>
        </p:nvPicPr>
        <p:blipFill>
          <a:blip r:embed="rId2"/>
          <a:stretch>
            <a:fillRect/>
          </a:stretch>
        </p:blipFill>
        <p:spPr>
          <a:xfrm>
            <a:off x="1763688" y="1196752"/>
            <a:ext cx="6873770" cy="5153199"/>
          </a:xfrm>
          <a:prstGeom prst="rect">
            <a:avLst/>
          </a:prstGeom>
        </p:spPr>
      </p:pic>
      <p:sp>
        <p:nvSpPr>
          <p:cNvPr id="7" name="TextBox 6">
            <a:extLst>
              <a:ext uri="{FF2B5EF4-FFF2-40B4-BE49-F238E27FC236}">
                <a16:creationId xmlns:a16="http://schemas.microsoft.com/office/drawing/2014/main" id="{176C1084-53BE-E027-01EA-B64173D70A12}"/>
              </a:ext>
            </a:extLst>
          </p:cNvPr>
          <p:cNvSpPr txBox="1"/>
          <p:nvPr/>
        </p:nvSpPr>
        <p:spPr>
          <a:xfrm>
            <a:off x="3563888" y="6398696"/>
            <a:ext cx="45720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 1: Block Diagram Of System.</a:t>
            </a:r>
          </a:p>
        </p:txBody>
      </p:sp>
    </p:spTree>
    <p:extLst>
      <p:ext uri="{BB962C8B-B14F-4D97-AF65-F5344CB8AC3E}">
        <p14:creationId xmlns:p14="http://schemas.microsoft.com/office/powerpoint/2010/main" val="1881432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904F0-52FD-57AE-E647-32557EE9B250}"/>
              </a:ext>
            </a:extLst>
          </p:cNvPr>
          <p:cNvSpPr>
            <a:spLocks noGrp="1"/>
          </p:cNvSpPr>
          <p:nvPr>
            <p:ph type="title"/>
          </p:nvPr>
        </p:nvSpPr>
        <p:spPr/>
        <p:txBody>
          <a:bodyPr>
            <a:normAutofit/>
          </a:bodyPr>
          <a:lstStyle/>
          <a:p>
            <a:r>
              <a:rPr lang="en-IN" sz="4000" b="1" dirty="0">
                <a:solidFill>
                  <a:srgbClr val="002060"/>
                </a:solidFill>
                <a:latin typeface="Times New Roman" panose="02020603050405020304" pitchFamily="18" charset="0"/>
                <a:cs typeface="Times New Roman" panose="02020603050405020304" pitchFamily="18" charset="0"/>
              </a:rPr>
              <a:t>Block Diagram Explanation</a:t>
            </a:r>
          </a:p>
        </p:txBody>
      </p:sp>
      <p:sp>
        <p:nvSpPr>
          <p:cNvPr id="3" name="Content Placeholder 2">
            <a:extLst>
              <a:ext uri="{FF2B5EF4-FFF2-40B4-BE49-F238E27FC236}">
                <a16:creationId xmlns:a16="http://schemas.microsoft.com/office/drawing/2014/main" id="{129BCF96-702D-7648-C585-409BA0470CE8}"/>
              </a:ext>
            </a:extLst>
          </p:cNvPr>
          <p:cNvSpPr>
            <a:spLocks noGrp="1"/>
          </p:cNvSpPr>
          <p:nvPr>
            <p:ph idx="1"/>
          </p:nvPr>
        </p:nvSpPr>
        <p:spPr>
          <a:xfrm>
            <a:off x="1564224" y="1776590"/>
            <a:ext cx="7240848" cy="4800600"/>
          </a:xfrm>
        </p:spPr>
        <p:txBody>
          <a:bodyPr>
            <a:normAutofit/>
          </a:bodyPr>
          <a:lstStyle/>
          <a:p>
            <a:pPr marL="82296" indent="0" algn="just">
              <a:buNone/>
            </a:pPr>
            <a:r>
              <a:rPr lang="en-US" sz="2400" dirty="0">
                <a:latin typeface="Times New Roman" panose="02020603050405020304" pitchFamily="18" charset="0"/>
                <a:cs typeface="Times New Roman" panose="02020603050405020304" pitchFamily="18" charset="0"/>
              </a:rPr>
              <a:t>This diagram represents the workflow of the landslide detection system. It starts with collecting unstructured data such as satellite images and landslide datasets. The data is then preprocessed using techniques like resizing, normalization, and augmentation to improve model performance. Next, a deep learning model (MobileNetV2 CNN) is used to analyze the images and extract features. Finally, the system generates predictions indicating landslide presence and provides outputs such as alerts and results.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675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69E82-7AF4-6BE8-954A-15FF5475B98B}"/>
              </a:ext>
            </a:extLst>
          </p:cNvPr>
          <p:cNvSpPr>
            <a:spLocks noGrp="1"/>
          </p:cNvSpPr>
          <p:nvPr>
            <p:ph type="title"/>
          </p:nvPr>
        </p:nvSpPr>
        <p:spPr/>
        <p:txBody>
          <a:bodyPr>
            <a:normAutofit/>
          </a:bodyPr>
          <a:lstStyle/>
          <a:p>
            <a:r>
              <a:rPr lang="en-IN" sz="4000" b="1" dirty="0">
                <a:solidFill>
                  <a:srgbClr val="002060"/>
                </a:solidFill>
                <a:latin typeface="Times New Roman" panose="02020603050405020304" pitchFamily="18" charset="0"/>
                <a:cs typeface="Times New Roman" panose="02020603050405020304" pitchFamily="18" charset="0"/>
              </a:rPr>
              <a:t>Modules of the System</a:t>
            </a:r>
          </a:p>
        </p:txBody>
      </p:sp>
      <p:sp>
        <p:nvSpPr>
          <p:cNvPr id="4" name="Rectangle 1">
            <a:extLst>
              <a:ext uri="{FF2B5EF4-FFF2-40B4-BE49-F238E27FC236}">
                <a16:creationId xmlns:a16="http://schemas.microsoft.com/office/drawing/2014/main" id="{1F319900-6B1C-EE98-0615-F84CE0781822}"/>
              </a:ext>
            </a:extLst>
          </p:cNvPr>
          <p:cNvSpPr>
            <a:spLocks noGrp="1" noChangeArrowheads="1"/>
          </p:cNvSpPr>
          <p:nvPr>
            <p:ph idx="1"/>
          </p:nvPr>
        </p:nvSpPr>
        <p:spPr bwMode="auto">
          <a:xfrm>
            <a:off x="1003020" y="1685419"/>
            <a:ext cx="8340745"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Module</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user registration, login, and authentication.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Upload Module</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users to upload landslide or terrain images for analysis.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Module</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Performs image resizing, normalization, and augmentation.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Module</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MobileNetV2 for classification and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UNet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segmentation.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Prediction Module</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results (Landslide / Non-Landslide) and confidence score.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Module</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user data, uploaded images, and prediction results.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Module</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alerts if a landslide is detected. </a:t>
            </a:r>
          </a:p>
        </p:txBody>
      </p:sp>
    </p:spTree>
    <p:extLst>
      <p:ext uri="{BB962C8B-B14F-4D97-AF65-F5344CB8AC3E}">
        <p14:creationId xmlns:p14="http://schemas.microsoft.com/office/powerpoint/2010/main" val="581707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F7DE1-59C1-187D-027F-0A8B52BF2DC2}"/>
              </a:ext>
            </a:extLst>
          </p:cNvPr>
          <p:cNvSpPr>
            <a:spLocks noGrp="1"/>
          </p:cNvSpPr>
          <p:nvPr>
            <p:ph type="title"/>
          </p:nvPr>
        </p:nvSpPr>
        <p:spPr/>
        <p:txBody>
          <a:bodyPr>
            <a:normAutofit/>
          </a:bodyPr>
          <a:lstStyle/>
          <a:p>
            <a:r>
              <a:rPr lang="en-IN" sz="4000" b="1" dirty="0">
                <a:solidFill>
                  <a:srgbClr val="002060"/>
                </a:solidFill>
                <a:latin typeface="Times New Roman" panose="02020603050405020304" pitchFamily="18" charset="0"/>
                <a:cs typeface="Times New Roman" panose="02020603050405020304" pitchFamily="18" charset="0"/>
              </a:rPr>
              <a:t>Dataset :</a:t>
            </a:r>
          </a:p>
        </p:txBody>
      </p:sp>
      <p:sp>
        <p:nvSpPr>
          <p:cNvPr id="3" name="Content Placeholder 2">
            <a:extLst>
              <a:ext uri="{FF2B5EF4-FFF2-40B4-BE49-F238E27FC236}">
                <a16:creationId xmlns:a16="http://schemas.microsoft.com/office/drawing/2014/main" id="{62CB80F3-3BCC-B31D-3340-81C325A07A21}"/>
              </a:ext>
            </a:extLst>
          </p:cNvPr>
          <p:cNvSpPr>
            <a:spLocks noGrp="1"/>
          </p:cNvSpPr>
          <p:nvPr>
            <p:ph idx="1"/>
          </p:nvPr>
        </p:nvSpPr>
        <p:spPr>
          <a:xfrm>
            <a:off x="1331640" y="1782762"/>
            <a:ext cx="7498080" cy="4800600"/>
          </a:xfrm>
        </p:spPr>
        <p:txBody>
          <a:bodyPr>
            <a:normAutofit fontScale="77500" lnSpcReduction="20000"/>
          </a:bodyPr>
          <a:lstStyle/>
          <a:p>
            <a:pPr marL="82296" lvl="0" indent="0" eaLnBrk="0" fontAlgn="base" hangingPunct="0">
              <a:spcBef>
                <a:spcPct val="0"/>
              </a:spcBef>
              <a:spcAft>
                <a:spcPct val="0"/>
              </a:spcAft>
              <a:buNone/>
            </a:pPr>
            <a:r>
              <a:rPr lang="en-IN" sz="4000" b="1" dirty="0" err="1">
                <a:latin typeface="Times New Roman" panose="02020603050405020304" pitchFamily="18" charset="0"/>
                <a:cs typeface="Times New Roman" panose="02020603050405020304" pitchFamily="18" charset="0"/>
              </a:rPr>
              <a:t>Bijie</a:t>
            </a:r>
            <a:r>
              <a:rPr lang="en-IN" sz="4000" b="1" dirty="0">
                <a:latin typeface="Times New Roman" panose="02020603050405020304" pitchFamily="18" charset="0"/>
                <a:cs typeface="Times New Roman" panose="02020603050405020304" pitchFamily="18" charset="0"/>
              </a:rPr>
              <a:t> Landslide Dataset</a:t>
            </a:r>
            <a:endParaRPr lang="en-US" altLang="en-US" sz="4000" b="1"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pPr>
            <a:r>
              <a:rPr lang="en-US" altLang="en-US" sz="3100" dirty="0">
                <a:latin typeface="Times New Roman" panose="02020603050405020304" pitchFamily="18" charset="0"/>
                <a:cs typeface="Times New Roman" panose="02020603050405020304" pitchFamily="18" charset="0"/>
              </a:rPr>
              <a:t>A </a:t>
            </a:r>
            <a:r>
              <a:rPr lang="en-US" altLang="en-US" sz="3100" b="1" dirty="0">
                <a:latin typeface="Times New Roman" panose="02020603050405020304" pitchFamily="18" charset="0"/>
                <a:cs typeface="Times New Roman" panose="02020603050405020304" pitchFamily="18" charset="0"/>
              </a:rPr>
              <a:t>remote sensing dataset</a:t>
            </a:r>
            <a:r>
              <a:rPr lang="en-US" altLang="en-US" sz="3100" dirty="0">
                <a:latin typeface="Times New Roman" panose="02020603050405020304" pitchFamily="18" charset="0"/>
                <a:cs typeface="Times New Roman" panose="02020603050405020304" pitchFamily="18" charset="0"/>
              </a:rPr>
              <a:t> used for landslide detection </a:t>
            </a:r>
          </a:p>
          <a:p>
            <a:pPr marL="0" lvl="0" indent="0" eaLnBrk="0" fontAlgn="base" hangingPunct="0">
              <a:spcBef>
                <a:spcPct val="0"/>
              </a:spcBef>
              <a:spcAft>
                <a:spcPct val="0"/>
              </a:spcAft>
              <a:buClrTx/>
              <a:buSzTx/>
              <a:buFontTx/>
              <a:buChar char="•"/>
            </a:pPr>
            <a:r>
              <a:rPr lang="en-US" altLang="en-US" sz="3100" dirty="0">
                <a:latin typeface="Times New Roman" panose="02020603050405020304" pitchFamily="18" charset="0"/>
                <a:cs typeface="Times New Roman" panose="02020603050405020304" pitchFamily="18" charset="0"/>
              </a:rPr>
              <a:t>Developed by </a:t>
            </a:r>
            <a:r>
              <a:rPr lang="en-US" altLang="en-US" sz="3100" b="1" dirty="0">
                <a:latin typeface="Times New Roman" panose="02020603050405020304" pitchFamily="18" charset="0"/>
                <a:cs typeface="Times New Roman" panose="02020603050405020304" pitchFamily="18" charset="0"/>
              </a:rPr>
              <a:t>Wuhan University, China</a:t>
            </a:r>
            <a:r>
              <a:rPr lang="en-US" altLang="en-US" sz="3100" dirty="0">
                <a:latin typeface="Times New Roman" panose="02020603050405020304" pitchFamily="18" charset="0"/>
                <a:cs typeface="Times New Roman" panose="02020603050405020304" pitchFamily="18" charset="0"/>
              </a:rPr>
              <a:t> </a:t>
            </a:r>
          </a:p>
          <a:p>
            <a:pPr marL="0" lvl="0" indent="0" eaLnBrk="0" fontAlgn="base" hangingPunct="0">
              <a:spcBef>
                <a:spcPct val="0"/>
              </a:spcBef>
              <a:spcAft>
                <a:spcPct val="0"/>
              </a:spcAft>
              <a:buClrTx/>
              <a:buSzTx/>
              <a:buNone/>
            </a:pPr>
            <a:endParaRPr lang="en-US" altLang="en-US" dirty="0">
              <a:latin typeface="Times New Roman" panose="02020603050405020304" pitchFamily="18" charset="0"/>
              <a:cs typeface="Times New Roman" panose="02020603050405020304" pitchFamily="18" charset="0"/>
            </a:endParaRPr>
          </a:p>
          <a:p>
            <a:pPr marL="82296" indent="0">
              <a:buNone/>
            </a:pPr>
            <a:r>
              <a:rPr lang="fi-FI" sz="3600" b="1" dirty="0">
                <a:latin typeface="Times New Roman" panose="02020603050405020304" pitchFamily="18" charset="0"/>
                <a:cs typeface="Times New Roman" panose="02020603050405020304" pitchFamily="18" charset="0"/>
              </a:rPr>
              <a:t>Key Features</a:t>
            </a:r>
            <a:endParaRPr lang="en-US" altLang="en-US" sz="3600" b="1"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ClrTx/>
              <a:buSzTx/>
              <a:buFont typeface="Arial" panose="020B0604020202020204" pitchFamily="34" charset="0"/>
              <a:buChar char="•"/>
            </a:pPr>
            <a:r>
              <a:rPr lang="en-US" altLang="en-US" sz="3100" b="1" dirty="0">
                <a:latin typeface="Times New Roman" panose="02020603050405020304" pitchFamily="18" charset="0"/>
                <a:cs typeface="Times New Roman" panose="02020603050405020304" pitchFamily="18" charset="0"/>
              </a:rPr>
              <a:t>770 landslide images</a:t>
            </a:r>
            <a:r>
              <a:rPr lang="en-US" altLang="en-US" sz="3100" dirty="0">
                <a:latin typeface="Times New Roman" panose="02020603050405020304" pitchFamily="18" charset="0"/>
                <a:cs typeface="Times New Roman" panose="02020603050405020304" pitchFamily="18" charset="0"/>
              </a:rPr>
              <a:t> and </a:t>
            </a:r>
            <a:r>
              <a:rPr lang="en-US" altLang="en-US" sz="3100" b="1" dirty="0">
                <a:latin typeface="Times New Roman" panose="02020603050405020304" pitchFamily="18" charset="0"/>
                <a:cs typeface="Times New Roman" panose="02020603050405020304" pitchFamily="18" charset="0"/>
              </a:rPr>
              <a:t>2003 non-landslide images</a:t>
            </a:r>
            <a:r>
              <a:rPr lang="en-US" altLang="en-US" sz="3100" dirty="0">
                <a:latin typeface="Times New Roman" panose="02020603050405020304" pitchFamily="18" charset="0"/>
                <a:cs typeface="Times New Roman" panose="02020603050405020304" pitchFamily="18" charset="0"/>
              </a:rPr>
              <a:t> </a:t>
            </a:r>
          </a:p>
          <a:p>
            <a:pPr marL="0" lvl="0" indent="0" eaLnBrk="0" fontAlgn="base" hangingPunct="0">
              <a:spcBef>
                <a:spcPct val="0"/>
              </a:spcBef>
              <a:spcAft>
                <a:spcPct val="0"/>
              </a:spcAft>
              <a:buClrTx/>
              <a:buSzTx/>
              <a:buFontTx/>
              <a:buChar char="•"/>
            </a:pPr>
            <a:r>
              <a:rPr lang="en-US" altLang="en-US" sz="3100" dirty="0">
                <a:latin typeface="Times New Roman" panose="02020603050405020304" pitchFamily="18" charset="0"/>
                <a:cs typeface="Times New Roman" panose="02020603050405020304" pitchFamily="18" charset="0"/>
              </a:rPr>
              <a:t>   High-resolution satellite images (~0.8 m) </a:t>
            </a:r>
          </a:p>
          <a:p>
            <a:pPr marL="0" lvl="0" indent="0" eaLnBrk="0" fontAlgn="base" hangingPunct="0">
              <a:spcBef>
                <a:spcPct val="0"/>
              </a:spcBef>
              <a:spcAft>
                <a:spcPct val="0"/>
              </a:spcAft>
              <a:buClrTx/>
              <a:buSzTx/>
              <a:buFontTx/>
              <a:buChar char="•"/>
            </a:pPr>
            <a:r>
              <a:rPr lang="en-US" sz="3100" dirty="0">
                <a:latin typeface="Times New Roman" panose="02020603050405020304" pitchFamily="18" charset="0"/>
                <a:cs typeface="Times New Roman" panose="02020603050405020304" pitchFamily="18" charset="0"/>
              </a:rPr>
              <a:t>   Includes </a:t>
            </a:r>
            <a:r>
              <a:rPr lang="en-US" sz="3100" b="1" dirty="0">
                <a:latin typeface="Times New Roman" panose="02020603050405020304" pitchFamily="18" charset="0"/>
                <a:cs typeface="Times New Roman" panose="02020603050405020304" pitchFamily="18" charset="0"/>
              </a:rPr>
              <a:t>RGB images, segmentation masks, </a:t>
            </a:r>
          </a:p>
          <a:p>
            <a:pPr marL="0" lvl="0" indent="0" eaLnBrk="0" fontAlgn="base" hangingPunct="0">
              <a:spcBef>
                <a:spcPct val="0"/>
              </a:spcBef>
              <a:spcAft>
                <a:spcPct val="0"/>
              </a:spcAft>
              <a:buClrTx/>
              <a:buSzTx/>
              <a:buNone/>
            </a:pPr>
            <a:r>
              <a:rPr lang="en-US" sz="3100" b="1" dirty="0">
                <a:latin typeface="Times New Roman" panose="02020603050405020304" pitchFamily="18" charset="0"/>
                <a:cs typeface="Times New Roman" panose="02020603050405020304" pitchFamily="18" charset="0"/>
              </a:rPr>
              <a:t>    DEM &amp; annotations</a:t>
            </a:r>
          </a:p>
          <a:p>
            <a:pPr marL="0" lvl="0" indent="0" eaLnBrk="0" fontAlgn="base" hangingPunct="0">
              <a:spcBef>
                <a:spcPct val="0"/>
              </a:spcBef>
              <a:spcAft>
                <a:spcPct val="0"/>
              </a:spcAft>
              <a:buClrTx/>
              <a:buSzTx/>
              <a:buNone/>
            </a:pPr>
            <a:endParaRPr lang="en-US" altLang="en-US" dirty="0">
              <a:latin typeface="Times New Roman" panose="02020603050405020304" pitchFamily="18" charset="0"/>
              <a:cs typeface="Times New Roman" panose="02020603050405020304" pitchFamily="18" charset="0"/>
            </a:endParaRPr>
          </a:p>
          <a:p>
            <a:r>
              <a:rPr lang="fi-FI" b="1" dirty="0">
                <a:latin typeface="Times New Roman" panose="02020603050405020304" pitchFamily="18" charset="0"/>
                <a:cs typeface="Times New Roman" panose="02020603050405020304" pitchFamily="18" charset="0"/>
              </a:rPr>
              <a:t>Dataset Link</a:t>
            </a:r>
          </a:p>
          <a:p>
            <a:pPr marL="36576" indent="0">
              <a:buNone/>
            </a:pPr>
            <a:r>
              <a:rPr lang="fi-FI" dirty="0">
                <a:latin typeface="Times New Roman" panose="02020603050405020304" pitchFamily="18" charset="0"/>
                <a:cs typeface="Times New Roman" panose="02020603050405020304" pitchFamily="18" charset="0"/>
              </a:rPr>
              <a:t>🔗 </a:t>
            </a:r>
            <a:r>
              <a:rPr lang="fi-FI" dirty="0">
                <a:latin typeface="Times New Roman" panose="02020603050405020304" pitchFamily="18" charset="0"/>
                <a:cs typeface="Times New Roman" panose="02020603050405020304" pitchFamily="18" charset="0"/>
                <a:hlinkClick r:id="rId2"/>
              </a:rPr>
              <a:t>https://gpcv.whu.edu.cn/data/Bijie_pages.html</a:t>
            </a:r>
            <a:endParaRPr lang="fi-FI" dirty="0">
              <a:latin typeface="Times New Roman" panose="02020603050405020304" pitchFamily="18" charset="0"/>
              <a:cs typeface="Times New Roman" panose="02020603050405020304" pitchFamily="18" charset="0"/>
            </a:endParaRPr>
          </a:p>
          <a:p>
            <a:pPr marL="82296" indent="0">
              <a:buNone/>
            </a:pPr>
            <a:endParaRPr lang="en-IN" dirty="0"/>
          </a:p>
        </p:txBody>
      </p:sp>
    </p:spTree>
    <p:extLst>
      <p:ext uri="{BB962C8B-B14F-4D97-AF65-F5344CB8AC3E}">
        <p14:creationId xmlns:p14="http://schemas.microsoft.com/office/powerpoint/2010/main" val="3598370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E9262-45DF-7B8E-5953-4AA15609AAC6}"/>
              </a:ext>
            </a:extLst>
          </p:cNvPr>
          <p:cNvSpPr>
            <a:spLocks noGrp="1"/>
          </p:cNvSpPr>
          <p:nvPr>
            <p:ph type="title"/>
          </p:nvPr>
        </p:nvSpPr>
        <p:spPr/>
        <p:txBody>
          <a:bodyPr>
            <a:noAutofit/>
          </a:bodyPr>
          <a:lstStyle/>
          <a:p>
            <a:r>
              <a:rPr lang="en-IN" sz="4000" b="1" dirty="0">
                <a:solidFill>
                  <a:srgbClr val="002060"/>
                </a:solidFill>
                <a:latin typeface="Times New Roman" panose="02020603050405020304" pitchFamily="18" charset="0"/>
                <a:cs typeface="Times New Roman" panose="02020603050405020304" pitchFamily="18" charset="0"/>
              </a:rPr>
              <a:t>Methodology</a:t>
            </a:r>
            <a:endParaRPr lang="en-IN" sz="40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38E156-52F2-3034-61DC-D258909CE294}"/>
              </a:ext>
            </a:extLst>
          </p:cNvPr>
          <p:cNvSpPr>
            <a:spLocks noGrp="1"/>
          </p:cNvSpPr>
          <p:nvPr>
            <p:ph idx="1"/>
          </p:nvPr>
        </p:nvSpPr>
        <p:spPr/>
        <p:txBody>
          <a:bodyPr>
            <a:normAutofit fontScale="85000" lnSpcReduction="10000"/>
          </a:bodyPr>
          <a:lstStyle/>
          <a:p>
            <a:pPr algn="just"/>
            <a:r>
              <a:rPr lang="en-IN" dirty="0">
                <a:latin typeface="Times New Roman" panose="02020603050405020304" pitchFamily="18" charset="0"/>
                <a:cs typeface="Times New Roman" panose="02020603050405020304" pitchFamily="18" charset="0"/>
              </a:rPr>
              <a:t>Collect landslide and non-landslide image datasets </a:t>
            </a:r>
          </a:p>
          <a:p>
            <a:pPr algn="just"/>
            <a:r>
              <a:rPr lang="en-IN" dirty="0">
                <a:latin typeface="Times New Roman" panose="02020603050405020304" pitchFamily="18" charset="0"/>
                <a:cs typeface="Times New Roman" panose="02020603050405020304" pitchFamily="18" charset="0"/>
              </a:rPr>
              <a:t>Preprocess images (resize, normalize, augment) </a:t>
            </a:r>
          </a:p>
          <a:p>
            <a:pPr algn="just"/>
            <a:r>
              <a:rPr lang="en-IN" dirty="0">
                <a:latin typeface="Times New Roman" panose="02020603050405020304" pitchFamily="18" charset="0"/>
                <a:cs typeface="Times New Roman" panose="02020603050405020304" pitchFamily="18" charset="0"/>
              </a:rPr>
              <a:t>Train deep learning model (MobileNetV2) for classification </a:t>
            </a:r>
          </a:p>
          <a:p>
            <a:pPr algn="just"/>
            <a:r>
              <a:rPr lang="en-IN" dirty="0">
                <a:latin typeface="Times New Roman" panose="02020603050405020304" pitchFamily="18" charset="0"/>
                <a:cs typeface="Times New Roman" panose="02020603050405020304" pitchFamily="18" charset="0"/>
              </a:rPr>
              <a:t>Apply </a:t>
            </a:r>
            <a:r>
              <a:rPr lang="en-IN" dirty="0" err="1">
                <a:latin typeface="Times New Roman" panose="02020603050405020304" pitchFamily="18" charset="0"/>
                <a:cs typeface="Times New Roman" panose="02020603050405020304" pitchFamily="18" charset="0"/>
              </a:rPr>
              <a:t>UNet</a:t>
            </a:r>
            <a:r>
              <a:rPr lang="en-IN" dirty="0">
                <a:latin typeface="Times New Roman" panose="02020603050405020304" pitchFamily="18" charset="0"/>
                <a:cs typeface="Times New Roman" panose="02020603050405020304" pitchFamily="18" charset="0"/>
              </a:rPr>
              <a:t> model for region-based segmentation </a:t>
            </a:r>
          </a:p>
          <a:p>
            <a:pPr algn="just"/>
            <a:r>
              <a:rPr lang="en-IN" dirty="0">
                <a:latin typeface="Times New Roman" panose="02020603050405020304" pitchFamily="18" charset="0"/>
                <a:cs typeface="Times New Roman" panose="02020603050405020304" pitchFamily="18" charset="0"/>
              </a:rPr>
              <a:t>Integrate trained models into Flask web application </a:t>
            </a:r>
          </a:p>
          <a:p>
            <a:pPr algn="just"/>
            <a:r>
              <a:rPr lang="en-IN" dirty="0">
                <a:latin typeface="Times New Roman" panose="02020603050405020304" pitchFamily="18" charset="0"/>
                <a:cs typeface="Times New Roman" panose="02020603050405020304" pitchFamily="18" charset="0"/>
              </a:rPr>
              <a:t>Accept user input (image upload) and process it </a:t>
            </a:r>
          </a:p>
          <a:p>
            <a:pPr algn="just"/>
            <a:r>
              <a:rPr lang="en-IN" dirty="0">
                <a:latin typeface="Times New Roman" panose="02020603050405020304" pitchFamily="18" charset="0"/>
                <a:cs typeface="Times New Roman" panose="02020603050405020304" pitchFamily="18" charset="0"/>
              </a:rPr>
              <a:t>Generate prediction and highlight affected areas </a:t>
            </a:r>
          </a:p>
          <a:p>
            <a:pPr algn="just"/>
            <a:r>
              <a:rPr lang="en-IN" dirty="0">
                <a:latin typeface="Times New Roman" panose="02020603050405020304" pitchFamily="18" charset="0"/>
                <a:cs typeface="Times New Roman" panose="02020603050405020304" pitchFamily="18" charset="0"/>
              </a:rPr>
              <a:t>Store results in database and display output</a:t>
            </a:r>
          </a:p>
          <a:p>
            <a:pPr marL="82296" indent="0">
              <a:buNone/>
            </a:pPr>
            <a:endParaRPr lang="en-IN" dirty="0"/>
          </a:p>
        </p:txBody>
      </p:sp>
    </p:spTree>
    <p:extLst>
      <p:ext uri="{BB962C8B-B14F-4D97-AF65-F5344CB8AC3E}">
        <p14:creationId xmlns:p14="http://schemas.microsoft.com/office/powerpoint/2010/main" val="2019146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96C3C-EFB5-AEEB-203D-1F88195EA991}"/>
              </a:ext>
            </a:extLst>
          </p:cNvPr>
          <p:cNvSpPr>
            <a:spLocks noGrp="1"/>
          </p:cNvSpPr>
          <p:nvPr>
            <p:ph type="title"/>
          </p:nvPr>
        </p:nvSpPr>
        <p:spPr/>
        <p:txBody>
          <a:bodyPr>
            <a:noAutofit/>
          </a:bodyPr>
          <a:lstStyle/>
          <a:p>
            <a:r>
              <a:rPr lang="en-IN" sz="4000" b="1" dirty="0">
                <a:solidFill>
                  <a:srgbClr val="002060"/>
                </a:solidFill>
                <a:latin typeface="Times New Roman" panose="02020603050405020304" pitchFamily="18" charset="0"/>
                <a:cs typeface="Times New Roman" panose="02020603050405020304" pitchFamily="18" charset="0"/>
              </a:rPr>
              <a:t>Algorithm Used</a:t>
            </a:r>
            <a:br>
              <a:rPr lang="en-IN" sz="4000" b="1" dirty="0">
                <a:solidFill>
                  <a:srgbClr val="002060"/>
                </a:solidFill>
                <a:latin typeface="Times New Roman" panose="02020603050405020304" pitchFamily="18" charset="0"/>
                <a:cs typeface="Times New Roman" panose="02020603050405020304" pitchFamily="18" charset="0"/>
              </a:rPr>
            </a:br>
            <a:endParaRPr lang="en-IN" sz="40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070704-334A-4C3A-F5B6-75AC4C97C0B0}"/>
              </a:ext>
            </a:extLst>
          </p:cNvPr>
          <p:cNvSpPr>
            <a:spLocks noGrp="1"/>
          </p:cNvSpPr>
          <p:nvPr>
            <p:ph idx="1"/>
          </p:nvPr>
        </p:nvSpPr>
        <p:spPr/>
        <p:txBody>
          <a:bodyPr>
            <a:normAutofit/>
          </a:bodyPr>
          <a:lstStyle/>
          <a:p>
            <a:r>
              <a:rPr lang="en-IN" sz="2800" b="1" dirty="0">
                <a:latin typeface="Times New Roman" panose="02020603050405020304" pitchFamily="18" charset="0"/>
                <a:cs typeface="Times New Roman" panose="02020603050405020304" pitchFamily="18" charset="0"/>
              </a:rPr>
              <a:t>Convolutional Neural Network (CNN)</a:t>
            </a:r>
            <a:br>
              <a:rPr lang="en-IN" sz="26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Used for image classification. </a:t>
            </a:r>
          </a:p>
          <a:p>
            <a:r>
              <a:rPr lang="en-IN" sz="2800" b="1" dirty="0">
                <a:latin typeface="Times New Roman" panose="02020603050405020304" pitchFamily="18" charset="0"/>
                <a:cs typeface="Times New Roman" panose="02020603050405020304" pitchFamily="18" charset="0"/>
              </a:rPr>
              <a:t>MobileNetV2</a:t>
            </a:r>
            <a:br>
              <a:rPr lang="en-IN" sz="26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Applied for efficient and accurate landslide classification using transfer learning. </a:t>
            </a:r>
          </a:p>
          <a:p>
            <a:r>
              <a:rPr lang="en-IN" sz="2600" b="1" dirty="0" err="1">
                <a:latin typeface="Times New Roman" panose="02020603050405020304" pitchFamily="18" charset="0"/>
                <a:cs typeface="Times New Roman" panose="02020603050405020304" pitchFamily="18" charset="0"/>
              </a:rPr>
              <a:t>UNet</a:t>
            </a:r>
            <a:r>
              <a:rPr lang="en-IN" sz="2600" b="1" dirty="0">
                <a:latin typeface="Times New Roman" panose="02020603050405020304" pitchFamily="18" charset="0"/>
                <a:cs typeface="Times New Roman" panose="02020603050405020304" pitchFamily="18" charset="0"/>
              </a:rPr>
              <a:t> Algorithm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Used for image segmentation to highlight landslide-affected regions. </a:t>
            </a:r>
          </a:p>
          <a:p>
            <a:r>
              <a:rPr lang="en-IN" sz="2600" b="1" dirty="0">
                <a:latin typeface="Times New Roman" panose="02020603050405020304" pitchFamily="18" charset="0"/>
                <a:cs typeface="Times New Roman" panose="02020603050405020304" pitchFamily="18" charset="0"/>
              </a:rPr>
              <a:t>Image Preprocessing Techniques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Includes resizing, normalization, and augmentation for better model performance.</a:t>
            </a:r>
          </a:p>
          <a:p>
            <a:pPr marL="82296" indent="0">
              <a:buNone/>
            </a:pPr>
            <a:endParaRPr lang="en-IN" dirty="0"/>
          </a:p>
        </p:txBody>
      </p:sp>
    </p:spTree>
    <p:extLst>
      <p:ext uri="{BB962C8B-B14F-4D97-AF65-F5344CB8AC3E}">
        <p14:creationId xmlns:p14="http://schemas.microsoft.com/office/powerpoint/2010/main" val="2067050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9F389-2A53-88C3-B41C-40F32B217202}"/>
              </a:ext>
            </a:extLst>
          </p:cNvPr>
          <p:cNvSpPr>
            <a:spLocks noGrp="1"/>
          </p:cNvSpPr>
          <p:nvPr>
            <p:ph type="title"/>
          </p:nvPr>
        </p:nvSpPr>
        <p:spPr/>
        <p:txBody>
          <a:bodyPr>
            <a:noAutofit/>
          </a:bodyPr>
          <a:lstStyle/>
          <a:p>
            <a:r>
              <a:rPr lang="en-IN" sz="4000" b="1" dirty="0">
                <a:solidFill>
                  <a:srgbClr val="002060"/>
                </a:solidFill>
                <a:latin typeface="Times New Roman" panose="02020603050405020304" pitchFamily="18" charset="0"/>
                <a:cs typeface="Times New Roman" panose="02020603050405020304" pitchFamily="18" charset="0"/>
              </a:rPr>
              <a:t>Project Scope</a:t>
            </a:r>
            <a:endParaRPr lang="en-IN" sz="40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9F9B9D-C12E-1A2A-E753-2A240834E15C}"/>
              </a:ext>
            </a:extLst>
          </p:cNvPr>
          <p:cNvSpPr>
            <a:spLocks noGrp="1"/>
          </p:cNvSpPr>
          <p:nvPr>
            <p:ph idx="1"/>
          </p:nvPr>
        </p:nvSpPr>
        <p:spPr/>
        <p:txBody>
          <a:bodyPr>
            <a:normAutofit/>
          </a:bodyPr>
          <a:lstStyle/>
          <a:p>
            <a:pPr marL="82296" indent="0">
              <a:buNone/>
            </a:pPr>
            <a:r>
              <a:rPr lang="en-IN" sz="2800" b="1" dirty="0">
                <a:latin typeface="Times New Roman" panose="02020603050405020304" pitchFamily="18" charset="0"/>
                <a:cs typeface="Times New Roman" panose="02020603050405020304" pitchFamily="18" charset="0"/>
              </a:rPr>
              <a:t>In Scope</a:t>
            </a:r>
          </a:p>
          <a:p>
            <a:pPr marL="82296"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satellite images and environmental data</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Predict landslide-prone areas using AI models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Generate alerts for potential landslides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Use Python and open-source tools</a:t>
            </a:r>
          </a:p>
          <a:p>
            <a:pPr marL="82296" indent="0">
              <a:buNone/>
            </a:pP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pPr marL="82296" indent="0">
              <a:buNone/>
            </a:pPr>
            <a:r>
              <a:rPr lang="en-IN" sz="2800" b="1" dirty="0">
                <a:latin typeface="Times New Roman" panose="02020603050405020304" pitchFamily="18" charset="0"/>
                <a:cs typeface="Times New Roman" panose="02020603050405020304" pitchFamily="18" charset="0"/>
              </a:rPr>
              <a:t>Out of Scope</a:t>
            </a:r>
          </a:p>
          <a:p>
            <a:pPr marL="82296" indent="0">
              <a:buNone/>
            </a:pPr>
            <a:r>
              <a:rPr lang="en-IN" sz="2400" dirty="0">
                <a:latin typeface="Times New Roman" panose="02020603050405020304" pitchFamily="18" charset="0"/>
                <a:cs typeface="Times New Roman" panose="02020603050405020304" pitchFamily="18" charset="0"/>
              </a:rPr>
              <a:t>✘ Real-time sensor data or IoT integration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Field monitoring or rescue operations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Government policy or infrastructure planning</a:t>
            </a:r>
          </a:p>
          <a:p>
            <a:pPr marL="82296" indent="0">
              <a:buNone/>
            </a:pPr>
            <a:endParaRPr lang="en-IN" dirty="0"/>
          </a:p>
        </p:txBody>
      </p:sp>
    </p:spTree>
    <p:extLst>
      <p:ext uri="{BB962C8B-B14F-4D97-AF65-F5344CB8AC3E}">
        <p14:creationId xmlns:p14="http://schemas.microsoft.com/office/powerpoint/2010/main" val="2976002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A58F0-CBE2-6246-8716-5CAD30CF953D}"/>
              </a:ext>
            </a:extLst>
          </p:cNvPr>
          <p:cNvSpPr>
            <a:spLocks noGrp="1"/>
          </p:cNvSpPr>
          <p:nvPr>
            <p:ph type="title"/>
          </p:nvPr>
        </p:nvSpPr>
        <p:spPr>
          <a:xfrm>
            <a:off x="1115616" y="274638"/>
            <a:ext cx="7818072" cy="1143000"/>
          </a:xfrm>
        </p:spPr>
        <p:txBody>
          <a:bodyPr>
            <a:noAutofit/>
          </a:bodyPr>
          <a:lstStyle/>
          <a:p>
            <a:r>
              <a:rPr lang="en-US" sz="3800" b="1" dirty="0">
                <a:solidFill>
                  <a:srgbClr val="002060"/>
                </a:solidFill>
                <a:latin typeface="Times New Roman" pitchFamily="18" charset="0"/>
                <a:cs typeface="Times New Roman" pitchFamily="18" charset="0"/>
              </a:rPr>
              <a:t>Requirement Specification</a:t>
            </a:r>
            <a:endParaRPr lang="en-IN" sz="3800" b="1" dirty="0">
              <a:solidFill>
                <a:srgbClr val="002060"/>
              </a:solidFill>
            </a:endParaRPr>
          </a:p>
        </p:txBody>
      </p:sp>
      <p:graphicFrame>
        <p:nvGraphicFramePr>
          <p:cNvPr id="4" name="Content Placeholder 3">
            <a:extLst>
              <a:ext uri="{FF2B5EF4-FFF2-40B4-BE49-F238E27FC236}">
                <a16:creationId xmlns:a16="http://schemas.microsoft.com/office/drawing/2014/main" id="{430D68F3-752C-42B6-F4ED-387023C79994}"/>
              </a:ext>
            </a:extLst>
          </p:cNvPr>
          <p:cNvGraphicFramePr>
            <a:graphicFrameLocks noGrp="1"/>
          </p:cNvGraphicFramePr>
          <p:nvPr>
            <p:ph idx="1"/>
            <p:extLst>
              <p:ext uri="{D42A27DB-BD31-4B8C-83A1-F6EECF244321}">
                <p14:modId xmlns:p14="http://schemas.microsoft.com/office/powerpoint/2010/main" val="996699943"/>
              </p:ext>
            </p:extLst>
          </p:nvPr>
        </p:nvGraphicFramePr>
        <p:xfrm>
          <a:off x="1435608" y="2560002"/>
          <a:ext cx="3784464" cy="4023360"/>
        </p:xfrm>
        <a:graphic>
          <a:graphicData uri="http://schemas.openxmlformats.org/drawingml/2006/table">
            <a:tbl>
              <a:tblPr firstRow="1" bandRow="1">
                <a:tableStyleId>{5C22544A-7EE6-4342-B048-85BDC9FD1C3A}</a:tableStyleId>
              </a:tblPr>
              <a:tblGrid>
                <a:gridCol w="1892232">
                  <a:extLst>
                    <a:ext uri="{9D8B030D-6E8A-4147-A177-3AD203B41FA5}">
                      <a16:colId xmlns:a16="http://schemas.microsoft.com/office/drawing/2014/main" val="1524871900"/>
                    </a:ext>
                  </a:extLst>
                </a:gridCol>
                <a:gridCol w="1892232">
                  <a:extLst>
                    <a:ext uri="{9D8B030D-6E8A-4147-A177-3AD203B41FA5}">
                      <a16:colId xmlns:a16="http://schemas.microsoft.com/office/drawing/2014/main" val="77805733"/>
                    </a:ext>
                  </a:extLst>
                </a:gridCol>
              </a:tblGrid>
              <a:tr h="291730">
                <a:tc>
                  <a:txBody>
                    <a:bodyPr/>
                    <a:lstStyle/>
                    <a:p>
                      <a:pPr>
                        <a:buNone/>
                      </a:pPr>
                      <a:r>
                        <a:rPr lang="en-IN">
                          <a:latin typeface="Times New Roman" panose="02020603050405020304" pitchFamily="18" charset="0"/>
                          <a:cs typeface="Times New Roman" panose="02020603050405020304" pitchFamily="18" charset="0"/>
                        </a:rPr>
                        <a:t>Category</a:t>
                      </a:r>
                    </a:p>
                  </a:txBody>
                  <a:tcPr anchor="ctr"/>
                </a:tc>
                <a:tc>
                  <a:txBody>
                    <a:bodyPr/>
                    <a:lstStyle/>
                    <a:p>
                      <a:pPr>
                        <a:buNone/>
                      </a:pPr>
                      <a:r>
                        <a:rPr lang="en-IN">
                          <a:latin typeface="Times New Roman" panose="02020603050405020304" pitchFamily="18" charset="0"/>
                          <a:cs typeface="Times New Roman" panose="02020603050405020304" pitchFamily="18" charset="0"/>
                        </a:rPr>
                        <a:t>Requirement</a:t>
                      </a:r>
                    </a:p>
                  </a:txBody>
                  <a:tcPr anchor="ctr"/>
                </a:tc>
                <a:extLst>
                  <a:ext uri="{0D108BD9-81ED-4DB2-BD59-A6C34878D82A}">
                    <a16:rowId xmlns:a16="http://schemas.microsoft.com/office/drawing/2014/main" val="4065764512"/>
                  </a:ext>
                </a:extLst>
              </a:tr>
              <a:tr h="291730">
                <a:tc>
                  <a:txBody>
                    <a:bodyPr/>
                    <a:lstStyle/>
                    <a:p>
                      <a:pPr>
                        <a:buNone/>
                      </a:pPr>
                      <a:r>
                        <a:rPr lang="en-IN">
                          <a:latin typeface="Times New Roman" panose="02020603050405020304" pitchFamily="18" charset="0"/>
                          <a:cs typeface="Times New Roman" panose="02020603050405020304" pitchFamily="18" charset="0"/>
                        </a:rPr>
                        <a:t>Operating System</a:t>
                      </a:r>
                    </a:p>
                  </a:txBody>
                  <a:tcPr anchor="ctr"/>
                </a:tc>
                <a:tc>
                  <a:txBody>
                    <a:bodyPr/>
                    <a:lstStyle/>
                    <a:p>
                      <a:pPr>
                        <a:buNone/>
                      </a:pPr>
                      <a:r>
                        <a:rPr lang="en-IN">
                          <a:latin typeface="Times New Roman" panose="02020603050405020304" pitchFamily="18" charset="0"/>
                          <a:cs typeface="Times New Roman" panose="02020603050405020304" pitchFamily="18" charset="0"/>
                        </a:rPr>
                        <a:t>Windows / Linux / macOS</a:t>
                      </a:r>
                    </a:p>
                  </a:txBody>
                  <a:tcPr anchor="ctr"/>
                </a:tc>
                <a:extLst>
                  <a:ext uri="{0D108BD9-81ED-4DB2-BD59-A6C34878D82A}">
                    <a16:rowId xmlns:a16="http://schemas.microsoft.com/office/drawing/2014/main" val="3924844782"/>
                  </a:ext>
                </a:extLst>
              </a:tr>
              <a:tr h="291730">
                <a:tc>
                  <a:txBody>
                    <a:bodyPr/>
                    <a:lstStyle/>
                    <a:p>
                      <a:pPr>
                        <a:buNone/>
                      </a:pPr>
                      <a:r>
                        <a:rPr lang="en-IN">
                          <a:latin typeface="Times New Roman" panose="02020603050405020304" pitchFamily="18" charset="0"/>
                          <a:cs typeface="Times New Roman" panose="02020603050405020304" pitchFamily="18" charset="0"/>
                        </a:rPr>
                        <a:t>Programming Language</a:t>
                      </a:r>
                    </a:p>
                  </a:txBody>
                  <a:tcPr anchor="ctr"/>
                </a:tc>
                <a:tc>
                  <a:txBody>
                    <a:bodyPr/>
                    <a:lstStyle/>
                    <a:p>
                      <a:pPr>
                        <a:buNone/>
                      </a:pPr>
                      <a:r>
                        <a:rPr lang="en-IN">
                          <a:latin typeface="Times New Roman" panose="02020603050405020304" pitchFamily="18" charset="0"/>
                          <a:cs typeface="Times New Roman" panose="02020603050405020304" pitchFamily="18" charset="0"/>
                        </a:rPr>
                        <a:t>Python</a:t>
                      </a:r>
                    </a:p>
                  </a:txBody>
                  <a:tcPr anchor="ctr"/>
                </a:tc>
                <a:extLst>
                  <a:ext uri="{0D108BD9-81ED-4DB2-BD59-A6C34878D82A}">
                    <a16:rowId xmlns:a16="http://schemas.microsoft.com/office/drawing/2014/main" val="3822995729"/>
                  </a:ext>
                </a:extLst>
              </a:tr>
              <a:tr h="291730">
                <a:tc>
                  <a:txBody>
                    <a:bodyPr/>
                    <a:lstStyle/>
                    <a:p>
                      <a:pPr>
                        <a:buNone/>
                      </a:pPr>
                      <a:r>
                        <a:rPr lang="en-IN">
                          <a:latin typeface="Times New Roman" panose="02020603050405020304" pitchFamily="18" charset="0"/>
                          <a:cs typeface="Times New Roman" panose="02020603050405020304" pitchFamily="18" charset="0"/>
                        </a:rPr>
                        <a:t>Framework</a:t>
                      </a:r>
                    </a:p>
                  </a:txBody>
                  <a:tcPr anchor="ctr"/>
                </a:tc>
                <a:tc>
                  <a:txBody>
                    <a:bodyPr/>
                    <a:lstStyle/>
                    <a:p>
                      <a:pPr>
                        <a:buNone/>
                      </a:pPr>
                      <a:r>
                        <a:rPr lang="en-IN">
                          <a:latin typeface="Times New Roman" panose="02020603050405020304" pitchFamily="18" charset="0"/>
                          <a:cs typeface="Times New Roman" panose="02020603050405020304" pitchFamily="18" charset="0"/>
                        </a:rPr>
                        <a:t>Flask</a:t>
                      </a:r>
                    </a:p>
                  </a:txBody>
                  <a:tcPr anchor="ctr"/>
                </a:tc>
                <a:extLst>
                  <a:ext uri="{0D108BD9-81ED-4DB2-BD59-A6C34878D82A}">
                    <a16:rowId xmlns:a16="http://schemas.microsoft.com/office/drawing/2014/main" val="4061015660"/>
                  </a:ext>
                </a:extLst>
              </a:tr>
              <a:tr h="291730">
                <a:tc>
                  <a:txBody>
                    <a:bodyPr/>
                    <a:lstStyle/>
                    <a:p>
                      <a:pPr>
                        <a:buNone/>
                      </a:pPr>
                      <a:r>
                        <a:rPr lang="en-IN">
                          <a:latin typeface="Times New Roman" panose="02020603050405020304" pitchFamily="18" charset="0"/>
                          <a:cs typeface="Times New Roman" panose="02020603050405020304" pitchFamily="18" charset="0"/>
                        </a:rPr>
                        <a:t>Frontend</a:t>
                      </a:r>
                    </a:p>
                  </a:txBody>
                  <a:tcPr anchor="ctr"/>
                </a:tc>
                <a:tc>
                  <a:txBody>
                    <a:bodyPr/>
                    <a:lstStyle/>
                    <a:p>
                      <a:pPr>
                        <a:buNone/>
                      </a:pPr>
                      <a:r>
                        <a:rPr lang="en-IN" dirty="0">
                          <a:latin typeface="Times New Roman" panose="02020603050405020304" pitchFamily="18" charset="0"/>
                          <a:cs typeface="Times New Roman" panose="02020603050405020304" pitchFamily="18" charset="0"/>
                        </a:rPr>
                        <a:t>HTML, CSS, JavaScript</a:t>
                      </a:r>
                    </a:p>
                  </a:txBody>
                  <a:tcPr anchor="ctr"/>
                </a:tc>
                <a:extLst>
                  <a:ext uri="{0D108BD9-81ED-4DB2-BD59-A6C34878D82A}">
                    <a16:rowId xmlns:a16="http://schemas.microsoft.com/office/drawing/2014/main" val="3165873133"/>
                  </a:ext>
                </a:extLst>
              </a:tr>
              <a:tr h="291730">
                <a:tc>
                  <a:txBody>
                    <a:bodyPr/>
                    <a:lstStyle/>
                    <a:p>
                      <a:pPr>
                        <a:buNone/>
                      </a:pPr>
                      <a:r>
                        <a:rPr lang="en-IN">
                          <a:latin typeface="Times New Roman" panose="02020603050405020304" pitchFamily="18" charset="0"/>
                          <a:cs typeface="Times New Roman" panose="02020603050405020304" pitchFamily="18" charset="0"/>
                        </a:rPr>
                        <a:t>Machine Learning Libraries</a:t>
                      </a:r>
                    </a:p>
                  </a:txBody>
                  <a:tcPr anchor="ctr"/>
                </a:tc>
                <a:tc>
                  <a:txBody>
                    <a:bodyPr/>
                    <a:lstStyle/>
                    <a:p>
                      <a:pPr>
                        <a:buNone/>
                      </a:pPr>
                      <a:r>
                        <a:rPr lang="en-IN">
                          <a:latin typeface="Times New Roman" panose="02020603050405020304" pitchFamily="18" charset="0"/>
                          <a:cs typeface="Times New Roman" panose="02020603050405020304" pitchFamily="18" charset="0"/>
                        </a:rPr>
                        <a:t>TensorFlow / Keras</a:t>
                      </a:r>
                    </a:p>
                  </a:txBody>
                  <a:tcPr anchor="ctr"/>
                </a:tc>
                <a:extLst>
                  <a:ext uri="{0D108BD9-81ED-4DB2-BD59-A6C34878D82A}">
                    <a16:rowId xmlns:a16="http://schemas.microsoft.com/office/drawing/2014/main" val="3070006900"/>
                  </a:ext>
                </a:extLst>
              </a:tr>
              <a:tr h="291730">
                <a:tc>
                  <a:txBody>
                    <a:bodyPr/>
                    <a:lstStyle/>
                    <a:p>
                      <a:pPr>
                        <a:buNone/>
                      </a:pPr>
                      <a:r>
                        <a:rPr lang="en-IN">
                          <a:latin typeface="Times New Roman" panose="02020603050405020304" pitchFamily="18" charset="0"/>
                          <a:cs typeface="Times New Roman" panose="02020603050405020304" pitchFamily="18" charset="0"/>
                        </a:rPr>
                        <a:t>Image Processing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OpenCV, PIL</a:t>
                      </a:r>
                    </a:p>
                  </a:txBody>
                  <a:tcPr anchor="ctr"/>
                </a:tc>
                <a:extLst>
                  <a:ext uri="{0D108BD9-81ED-4DB2-BD59-A6C34878D82A}">
                    <a16:rowId xmlns:a16="http://schemas.microsoft.com/office/drawing/2014/main" val="3207958087"/>
                  </a:ext>
                </a:extLst>
              </a:tr>
              <a:tr h="291730">
                <a:tc>
                  <a:txBody>
                    <a:bodyPr/>
                    <a:lstStyle/>
                    <a:p>
                      <a:pPr>
                        <a:buNone/>
                      </a:pPr>
                      <a:r>
                        <a:rPr lang="en-IN">
                          <a:latin typeface="Times New Roman" panose="02020603050405020304" pitchFamily="18" charset="0"/>
                          <a:cs typeface="Times New Roman" panose="02020603050405020304" pitchFamily="18" charset="0"/>
                        </a:rPr>
                        <a:t>Database</a:t>
                      </a:r>
                    </a:p>
                  </a:txBody>
                  <a:tcPr anchor="ctr"/>
                </a:tc>
                <a:tc>
                  <a:txBody>
                    <a:bodyPr/>
                    <a:lstStyle/>
                    <a:p>
                      <a:pPr>
                        <a:buNone/>
                      </a:pPr>
                      <a:r>
                        <a:rPr lang="en-IN" dirty="0">
                          <a:latin typeface="Times New Roman" panose="02020603050405020304" pitchFamily="18" charset="0"/>
                          <a:cs typeface="Times New Roman" panose="02020603050405020304" pitchFamily="18" charset="0"/>
                        </a:rPr>
                        <a:t>MySQL</a:t>
                      </a:r>
                    </a:p>
                  </a:txBody>
                  <a:tcPr anchor="ctr"/>
                </a:tc>
                <a:extLst>
                  <a:ext uri="{0D108BD9-81ED-4DB2-BD59-A6C34878D82A}">
                    <a16:rowId xmlns:a16="http://schemas.microsoft.com/office/drawing/2014/main" val="2250420978"/>
                  </a:ext>
                </a:extLst>
              </a:tr>
            </a:tbl>
          </a:graphicData>
        </a:graphic>
      </p:graphicFrame>
      <p:sp>
        <p:nvSpPr>
          <p:cNvPr id="6" name="TextBox 5">
            <a:extLst>
              <a:ext uri="{FF2B5EF4-FFF2-40B4-BE49-F238E27FC236}">
                <a16:creationId xmlns:a16="http://schemas.microsoft.com/office/drawing/2014/main" id="{5050A709-103F-EF4E-93E8-778AE429C2E5}"/>
              </a:ext>
            </a:extLst>
          </p:cNvPr>
          <p:cNvSpPr txBox="1"/>
          <p:nvPr/>
        </p:nvSpPr>
        <p:spPr>
          <a:xfrm>
            <a:off x="1435608" y="1988840"/>
            <a:ext cx="4572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Software Requirements</a:t>
            </a:r>
          </a:p>
        </p:txBody>
      </p:sp>
      <p:sp>
        <p:nvSpPr>
          <p:cNvPr id="8" name="TextBox 7">
            <a:extLst>
              <a:ext uri="{FF2B5EF4-FFF2-40B4-BE49-F238E27FC236}">
                <a16:creationId xmlns:a16="http://schemas.microsoft.com/office/drawing/2014/main" id="{8CCC8287-59C2-79FC-FA00-B7C961111B27}"/>
              </a:ext>
            </a:extLst>
          </p:cNvPr>
          <p:cNvSpPr txBox="1"/>
          <p:nvPr/>
        </p:nvSpPr>
        <p:spPr>
          <a:xfrm>
            <a:off x="5724128" y="2004228"/>
            <a:ext cx="4572000" cy="430887"/>
          </a:xfrm>
          <a:prstGeom prst="rect">
            <a:avLst/>
          </a:prstGeom>
          <a:noFill/>
        </p:spPr>
        <p:txBody>
          <a:bodyPr wrap="square">
            <a:spAutoFit/>
          </a:bodyPr>
          <a:lstStyle/>
          <a:p>
            <a:r>
              <a:rPr lang="en-IN" sz="2200" b="1" dirty="0">
                <a:latin typeface="Times New Roman" panose="02020603050405020304" pitchFamily="18" charset="0"/>
                <a:cs typeface="Times New Roman" panose="02020603050405020304" pitchFamily="18" charset="0"/>
              </a:rPr>
              <a:t>Hardware Requirements</a:t>
            </a:r>
          </a:p>
        </p:txBody>
      </p:sp>
      <p:graphicFrame>
        <p:nvGraphicFramePr>
          <p:cNvPr id="9" name="Table 8">
            <a:extLst>
              <a:ext uri="{FF2B5EF4-FFF2-40B4-BE49-F238E27FC236}">
                <a16:creationId xmlns:a16="http://schemas.microsoft.com/office/drawing/2014/main" id="{2C772F0E-3F28-76EA-9E92-95F67D0E6670}"/>
              </a:ext>
            </a:extLst>
          </p:cNvPr>
          <p:cNvGraphicFramePr>
            <a:graphicFrameLocks noGrp="1"/>
          </p:cNvGraphicFramePr>
          <p:nvPr>
            <p:extLst>
              <p:ext uri="{D42A27DB-BD31-4B8C-83A1-F6EECF244321}">
                <p14:modId xmlns:p14="http://schemas.microsoft.com/office/powerpoint/2010/main" val="1517543388"/>
              </p:ext>
            </p:extLst>
          </p:nvPr>
        </p:nvGraphicFramePr>
        <p:xfrm>
          <a:off x="5508104" y="2560002"/>
          <a:ext cx="3467100" cy="1737360"/>
        </p:xfrm>
        <a:graphic>
          <a:graphicData uri="http://schemas.openxmlformats.org/drawingml/2006/table">
            <a:tbl>
              <a:tblPr firstRow="1" bandRow="1">
                <a:tableStyleId>{5C22544A-7EE6-4342-B048-85BDC9FD1C3A}</a:tableStyleId>
              </a:tblPr>
              <a:tblGrid>
                <a:gridCol w="1733550">
                  <a:extLst>
                    <a:ext uri="{9D8B030D-6E8A-4147-A177-3AD203B41FA5}">
                      <a16:colId xmlns:a16="http://schemas.microsoft.com/office/drawing/2014/main" val="3345252491"/>
                    </a:ext>
                  </a:extLst>
                </a:gridCol>
                <a:gridCol w="1733550">
                  <a:extLst>
                    <a:ext uri="{9D8B030D-6E8A-4147-A177-3AD203B41FA5}">
                      <a16:colId xmlns:a16="http://schemas.microsoft.com/office/drawing/2014/main" val="3234446015"/>
                    </a:ext>
                  </a:extLst>
                </a:gridCol>
              </a:tblGrid>
              <a:tr h="343264">
                <a:tc>
                  <a:txBody>
                    <a:bodyPr/>
                    <a:lstStyle/>
                    <a:p>
                      <a:pPr>
                        <a:buNone/>
                      </a:pPr>
                      <a:r>
                        <a:rPr lang="en-IN">
                          <a:latin typeface="Times New Roman" panose="02020603050405020304" pitchFamily="18" charset="0"/>
                          <a:cs typeface="Times New Roman" panose="02020603050405020304" pitchFamily="18" charset="0"/>
                        </a:rPr>
                        <a:t>Category</a:t>
                      </a:r>
                    </a:p>
                  </a:txBody>
                  <a:tcPr anchor="ctr"/>
                </a:tc>
                <a:tc>
                  <a:txBody>
                    <a:bodyPr/>
                    <a:lstStyle/>
                    <a:p>
                      <a:pPr>
                        <a:buNone/>
                      </a:pPr>
                      <a:r>
                        <a:rPr lang="en-IN">
                          <a:latin typeface="Times New Roman" panose="02020603050405020304" pitchFamily="18" charset="0"/>
                          <a:cs typeface="Times New Roman" panose="02020603050405020304" pitchFamily="18" charset="0"/>
                        </a:rPr>
                        <a:t>Requirement</a:t>
                      </a:r>
                    </a:p>
                  </a:txBody>
                  <a:tcPr anchor="ctr"/>
                </a:tc>
                <a:extLst>
                  <a:ext uri="{0D108BD9-81ED-4DB2-BD59-A6C34878D82A}">
                    <a16:rowId xmlns:a16="http://schemas.microsoft.com/office/drawing/2014/main" val="1962630671"/>
                  </a:ext>
                </a:extLst>
              </a:tr>
              <a:tr h="343264">
                <a:tc>
                  <a:txBody>
                    <a:bodyPr/>
                    <a:lstStyle/>
                    <a:p>
                      <a:pPr>
                        <a:buNone/>
                      </a:pPr>
                      <a:r>
                        <a:rPr lang="en-IN">
                          <a:latin typeface="Times New Roman" panose="02020603050405020304" pitchFamily="18" charset="0"/>
                          <a:cs typeface="Times New Roman" panose="02020603050405020304" pitchFamily="18" charset="0"/>
                        </a:rPr>
                        <a:t>Processor</a:t>
                      </a:r>
                    </a:p>
                  </a:txBody>
                  <a:tcPr anchor="ctr"/>
                </a:tc>
                <a:tc>
                  <a:txBody>
                    <a:bodyPr/>
                    <a:lstStyle/>
                    <a:p>
                      <a:pPr>
                        <a:buNone/>
                      </a:pPr>
                      <a:r>
                        <a:rPr lang="en-IN">
                          <a:latin typeface="Times New Roman" panose="02020603050405020304" pitchFamily="18" charset="0"/>
                          <a:cs typeface="Times New Roman" panose="02020603050405020304" pitchFamily="18" charset="0"/>
                        </a:rPr>
                        <a:t>Intel i5 or higher</a:t>
                      </a:r>
                    </a:p>
                  </a:txBody>
                  <a:tcPr anchor="ctr"/>
                </a:tc>
                <a:extLst>
                  <a:ext uri="{0D108BD9-81ED-4DB2-BD59-A6C34878D82A}">
                    <a16:rowId xmlns:a16="http://schemas.microsoft.com/office/drawing/2014/main" val="1694202898"/>
                  </a:ext>
                </a:extLst>
              </a:tr>
              <a:tr h="343264">
                <a:tc>
                  <a:txBody>
                    <a:bodyPr/>
                    <a:lstStyle/>
                    <a:p>
                      <a:pPr>
                        <a:buNone/>
                      </a:pPr>
                      <a:r>
                        <a:rPr lang="en-IN">
                          <a:latin typeface="Times New Roman" panose="02020603050405020304" pitchFamily="18" charset="0"/>
                          <a:cs typeface="Times New Roman" panose="02020603050405020304" pitchFamily="18" charset="0"/>
                        </a:rPr>
                        <a:t>RAM</a:t>
                      </a:r>
                    </a:p>
                  </a:txBody>
                  <a:tcPr anchor="ctr"/>
                </a:tc>
                <a:tc>
                  <a:txBody>
                    <a:bodyPr/>
                    <a:lstStyle/>
                    <a:p>
                      <a:pPr>
                        <a:buNone/>
                      </a:pPr>
                      <a:r>
                        <a:rPr lang="en-IN">
                          <a:latin typeface="Times New Roman" panose="02020603050405020304" pitchFamily="18" charset="0"/>
                          <a:cs typeface="Times New Roman" panose="02020603050405020304" pitchFamily="18" charset="0"/>
                        </a:rPr>
                        <a:t>Minimum 8 GB</a:t>
                      </a:r>
                    </a:p>
                  </a:txBody>
                  <a:tcPr anchor="ctr"/>
                </a:tc>
                <a:extLst>
                  <a:ext uri="{0D108BD9-81ED-4DB2-BD59-A6C34878D82A}">
                    <a16:rowId xmlns:a16="http://schemas.microsoft.com/office/drawing/2014/main" val="1490991884"/>
                  </a:ext>
                </a:extLst>
              </a:tr>
              <a:tr h="343264">
                <a:tc>
                  <a:txBody>
                    <a:bodyPr/>
                    <a:lstStyle/>
                    <a:p>
                      <a:pPr>
                        <a:buNone/>
                      </a:pPr>
                      <a:r>
                        <a:rPr lang="en-IN" dirty="0">
                          <a:latin typeface="Times New Roman" panose="02020603050405020304" pitchFamily="18" charset="0"/>
                          <a:cs typeface="Times New Roman" panose="02020603050405020304" pitchFamily="18" charset="0"/>
                        </a:rPr>
                        <a:t>Storage</a:t>
                      </a:r>
                    </a:p>
                  </a:txBody>
                  <a:tcPr anchor="ctr"/>
                </a:tc>
                <a:tc>
                  <a:txBody>
                    <a:bodyPr/>
                    <a:lstStyle/>
                    <a:p>
                      <a:pPr>
                        <a:buNone/>
                      </a:pPr>
                      <a:r>
                        <a:rPr lang="en-IN" dirty="0">
                          <a:latin typeface="Times New Roman" panose="02020603050405020304" pitchFamily="18" charset="0"/>
                          <a:cs typeface="Times New Roman" panose="02020603050405020304" pitchFamily="18" charset="0"/>
                        </a:rPr>
                        <a:t>256 GB or higher</a:t>
                      </a:r>
                    </a:p>
                  </a:txBody>
                  <a:tcPr anchor="ctr"/>
                </a:tc>
                <a:extLst>
                  <a:ext uri="{0D108BD9-81ED-4DB2-BD59-A6C34878D82A}">
                    <a16:rowId xmlns:a16="http://schemas.microsoft.com/office/drawing/2014/main" val="2528384374"/>
                  </a:ext>
                </a:extLst>
              </a:tr>
            </a:tbl>
          </a:graphicData>
        </a:graphic>
      </p:graphicFrame>
    </p:spTree>
    <p:extLst>
      <p:ext uri="{BB962C8B-B14F-4D97-AF65-F5344CB8AC3E}">
        <p14:creationId xmlns:p14="http://schemas.microsoft.com/office/powerpoint/2010/main" val="3849109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A3BEE-D902-C1DB-95C1-4ABCA785245C}"/>
              </a:ext>
            </a:extLst>
          </p:cNvPr>
          <p:cNvSpPr>
            <a:spLocks noGrp="1"/>
          </p:cNvSpPr>
          <p:nvPr>
            <p:ph type="title"/>
          </p:nvPr>
        </p:nvSpPr>
        <p:spPr/>
        <p:txBody>
          <a:bodyPr>
            <a:noAutofit/>
          </a:bodyPr>
          <a:lstStyle/>
          <a:p>
            <a:r>
              <a:rPr lang="en-US" sz="4000" b="1" dirty="0">
                <a:solidFill>
                  <a:srgbClr val="002060"/>
                </a:solidFill>
                <a:latin typeface="Times New Roman" panose="02020603050405020304" pitchFamily="18" charset="0"/>
                <a:cs typeface="Times New Roman" pitchFamily="18" charset="0"/>
              </a:rPr>
              <a:t>Feasibility Study</a:t>
            </a:r>
            <a:endParaRPr lang="en-IN" sz="40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2BFBE6-7003-91D9-9B96-C6C3B00C0D99}"/>
              </a:ext>
            </a:extLst>
          </p:cNvPr>
          <p:cNvSpPr>
            <a:spLocks noGrp="1"/>
          </p:cNvSpPr>
          <p:nvPr>
            <p:ph idx="1"/>
          </p:nvPr>
        </p:nvSpPr>
        <p:spPr>
          <a:xfrm>
            <a:off x="1435608" y="1447800"/>
            <a:ext cx="3280408" cy="5293568"/>
          </a:xfrm>
        </p:spPr>
        <p:txBody>
          <a:bodyPr>
            <a:normAutofit fontScale="47500" lnSpcReduction="20000"/>
          </a:bodyPr>
          <a:lstStyle/>
          <a:p>
            <a:pPr marL="82296" indent="0">
              <a:buNone/>
            </a:pPr>
            <a:endParaRPr lang="en-US" dirty="0">
              <a:solidFill>
                <a:srgbClr val="FFC000"/>
              </a:solidFill>
              <a:latin typeface="Times New Roman" panose="02020603050405020304" pitchFamily="18" charset="0"/>
              <a:cs typeface="Times New Roman" pitchFamily="18" charset="0"/>
            </a:endParaRPr>
          </a:p>
          <a:p>
            <a:pPr marL="82296" indent="0">
              <a:buNone/>
            </a:pPr>
            <a:r>
              <a:rPr lang="en-US" sz="4500" b="1" dirty="0">
                <a:latin typeface="Times New Roman" panose="02020603050405020304" pitchFamily="18" charset="0"/>
                <a:cs typeface="Times New Roman" pitchFamily="18" charset="0"/>
              </a:rPr>
              <a:t>Technical</a:t>
            </a:r>
            <a:r>
              <a:rPr lang="en-US" sz="3600" b="1" dirty="0">
                <a:latin typeface="Times New Roman" panose="02020603050405020304" pitchFamily="18" charset="0"/>
                <a:cs typeface="Times New Roman" pitchFamily="18" charset="0"/>
              </a:rPr>
              <a:t> </a:t>
            </a:r>
            <a:r>
              <a:rPr lang="en-US" sz="4200" b="1" dirty="0">
                <a:latin typeface="Times New Roman" panose="02020603050405020304" pitchFamily="18" charset="0"/>
                <a:cs typeface="Times New Roman" pitchFamily="18" charset="0"/>
              </a:rPr>
              <a:t>Feasibility</a:t>
            </a:r>
            <a:r>
              <a:rPr lang="en-US" sz="1800" dirty="0">
                <a:solidFill>
                  <a:srgbClr val="FFC000"/>
                </a:solidFill>
                <a:latin typeface="Times New Roman" panose="02020603050405020304" pitchFamily="18" charset="0"/>
                <a:cs typeface="Times New Roman" pitchFamily="18" charset="0"/>
              </a:rPr>
              <a:t>                                                                                                                                      </a:t>
            </a:r>
          </a:p>
          <a:p>
            <a:pPr marL="457200" indent="-457200">
              <a:buFont typeface="Arial" panose="020B0604020202020204" pitchFamily="34" charset="0"/>
              <a:buChar char="•"/>
            </a:pPr>
            <a:r>
              <a:rPr lang="en-US" sz="3800" dirty="0">
                <a:latin typeface="Times New Roman" panose="02020603050405020304" pitchFamily="18" charset="0"/>
                <a:cs typeface="Times New Roman" pitchFamily="18" charset="0"/>
              </a:rPr>
              <a:t>Uses Python and open-source</a:t>
            </a:r>
          </a:p>
          <a:p>
            <a:pPr marL="457200" indent="-457200">
              <a:buFont typeface="Arial" panose="020B0604020202020204" pitchFamily="34" charset="0"/>
              <a:buChar char="•"/>
            </a:pPr>
            <a:r>
              <a:rPr lang="en-US" sz="3800" dirty="0">
                <a:latin typeface="Times New Roman" panose="02020603050405020304" pitchFamily="18" charset="0"/>
                <a:cs typeface="Times New Roman" pitchFamily="18" charset="0"/>
              </a:rPr>
              <a:t>Libraries like </a:t>
            </a:r>
            <a:r>
              <a:rPr lang="en-US" sz="3800" dirty="0" err="1">
                <a:latin typeface="Times New Roman" panose="02020603050405020304" pitchFamily="18" charset="0"/>
                <a:cs typeface="Times New Roman" pitchFamily="18" charset="0"/>
              </a:rPr>
              <a:t>TensorFlow,Keras</a:t>
            </a:r>
            <a:r>
              <a:rPr lang="en-US" sz="3800" dirty="0">
                <a:latin typeface="Times New Roman" panose="02020603050405020304" pitchFamily="18" charset="0"/>
                <a:cs typeface="Times New Roman" pitchFamily="18" charset="0"/>
              </a:rPr>
              <a:t>.</a:t>
            </a:r>
          </a:p>
          <a:p>
            <a:pPr marL="457200" indent="-457200">
              <a:buFont typeface="Arial" panose="020B0604020202020204" pitchFamily="34" charset="0"/>
              <a:buChar char="•"/>
            </a:pPr>
            <a:r>
              <a:rPr lang="en-US" sz="3800" dirty="0">
                <a:latin typeface="Times New Roman" panose="02020603050405020304" pitchFamily="18" charset="0"/>
                <a:cs typeface="Times New Roman" pitchFamily="18" charset="0"/>
              </a:rPr>
              <a:t>No need for special hardware </a:t>
            </a:r>
          </a:p>
          <a:p>
            <a:pPr marL="457200" indent="-457200">
              <a:buFont typeface="Arial" panose="020B0604020202020204" pitchFamily="34" charset="0"/>
              <a:buChar char="•"/>
            </a:pPr>
            <a:r>
              <a:rPr lang="en-US" sz="3800" dirty="0">
                <a:latin typeface="Times New Roman" panose="02020603050405020304" pitchFamily="18" charset="0"/>
                <a:cs typeface="Times New Roman" pitchFamily="18" charset="0"/>
              </a:rPr>
              <a:t>Free cloud platforms can be  used.</a:t>
            </a:r>
          </a:p>
          <a:p>
            <a:pPr marL="82296" indent="0">
              <a:buNone/>
            </a:pPr>
            <a:endParaRPr lang="en-US" sz="3600" b="1" dirty="0">
              <a:latin typeface="Times New Roman" panose="02020603050405020304" pitchFamily="18" charset="0"/>
              <a:cs typeface="Times New Roman" pitchFamily="18" charset="0"/>
            </a:endParaRPr>
          </a:p>
          <a:p>
            <a:pPr marL="82296" indent="0">
              <a:buNone/>
            </a:pPr>
            <a:r>
              <a:rPr lang="en-US" sz="4200" b="1" dirty="0">
                <a:latin typeface="Times New Roman" panose="02020603050405020304" pitchFamily="18" charset="0"/>
                <a:cs typeface="Times New Roman" pitchFamily="18" charset="0"/>
              </a:rPr>
              <a:t>Schedule Feasibility</a:t>
            </a:r>
          </a:p>
          <a:p>
            <a:endParaRPr lang="en-US" sz="1800" dirty="0">
              <a:latin typeface="Times New Roman" panose="02020603050405020304" pitchFamily="18" charset="0"/>
              <a:cs typeface="Times New Roman" pitchFamily="18" charset="0"/>
            </a:endParaRPr>
          </a:p>
          <a:p>
            <a:pPr marL="457200" indent="-457200">
              <a:buFont typeface="Arial" panose="020B0604020202020204" pitchFamily="34" charset="0"/>
              <a:buChar char="•"/>
            </a:pPr>
            <a:r>
              <a:rPr lang="en-US" sz="3800" dirty="0">
                <a:latin typeface="Times New Roman" pitchFamily="18" charset="0"/>
                <a:cs typeface="Times New Roman" pitchFamily="18" charset="0"/>
              </a:rPr>
              <a:t>Clear stages: data collection → </a:t>
            </a:r>
            <a:r>
              <a:rPr lang="en-US" sz="3800" dirty="0" err="1">
                <a:latin typeface="Times New Roman" panose="02020603050405020304" pitchFamily="18" charset="0"/>
                <a:cs typeface="Times New Roman" pitchFamily="18" charset="0"/>
              </a:rPr>
              <a:t>modeling→prediction</a:t>
            </a:r>
            <a:r>
              <a:rPr lang="en-US" sz="3800" dirty="0">
                <a:latin typeface="Times New Roman" panose="02020603050405020304" pitchFamily="18" charset="0"/>
                <a:cs typeface="Times New Roman" pitchFamily="18" charset="0"/>
              </a:rPr>
              <a:t>.</a:t>
            </a:r>
          </a:p>
          <a:p>
            <a:pPr>
              <a:buFont typeface="Arial" panose="020B0604020202020204" pitchFamily="34" charset="0"/>
              <a:buChar char="•"/>
            </a:pPr>
            <a:endParaRPr lang="en-US" sz="3800" dirty="0">
              <a:latin typeface="Times New Roman" panose="02020603050405020304" pitchFamily="18" charset="0"/>
              <a:cs typeface="Times New Roman" pitchFamily="18" charset="0"/>
            </a:endParaRPr>
          </a:p>
          <a:p>
            <a:pPr marL="457200" indent="-457200">
              <a:buFont typeface="Arial" panose="020B0604020202020204" pitchFamily="34" charset="0"/>
              <a:buChar char="•"/>
            </a:pPr>
            <a:r>
              <a:rPr lang="en-US" sz="3800" dirty="0">
                <a:latin typeface="Times New Roman" panose="02020603050405020304" pitchFamily="18" charset="0"/>
                <a:cs typeface="Times New Roman" pitchFamily="18" charset="0"/>
              </a:rPr>
              <a:t>Can be completed within the academic  timeframe</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17631BD-64BB-2974-5425-26F812074DD6}"/>
              </a:ext>
            </a:extLst>
          </p:cNvPr>
          <p:cNvSpPr txBox="1"/>
          <p:nvPr/>
        </p:nvSpPr>
        <p:spPr>
          <a:xfrm>
            <a:off x="5175998" y="2132856"/>
            <a:ext cx="3749040" cy="4324261"/>
          </a:xfrm>
          <a:prstGeom prst="rect">
            <a:avLst/>
          </a:prstGeom>
          <a:noFill/>
        </p:spPr>
        <p:txBody>
          <a:bodyPr wrap="square">
            <a:spAutoFit/>
          </a:bodyPr>
          <a:lstStyle/>
          <a:p>
            <a:pPr marL="285750" indent="-285750">
              <a:buFont typeface="Arial" pitchFamily="34" charset="0"/>
              <a:buChar char="•"/>
            </a:pPr>
            <a:r>
              <a:rPr lang="en-US" sz="1800" dirty="0">
                <a:latin typeface="Times New Roman" panose="02020603050405020304" pitchFamily="18" charset="0"/>
                <a:cs typeface="Times New Roman" pitchFamily="18" charset="0"/>
              </a:rPr>
              <a:t>Software and data are free or low-cost.</a:t>
            </a:r>
          </a:p>
          <a:p>
            <a:pPr marL="171450" indent="-171450">
              <a:buFont typeface="Arial" pitchFamily="34" charset="0"/>
              <a:buChar char="•"/>
            </a:pPr>
            <a:endParaRPr lang="en-US" sz="700" dirty="0">
              <a:latin typeface="Times New Roman" panose="02020603050405020304" pitchFamily="18" charset="0"/>
              <a:cs typeface="Times New Roman" panose="02020603050405020304" pitchFamily="18" charset="0"/>
            </a:endParaRPr>
          </a:p>
          <a:p>
            <a:pPr marL="285750" indent="-285750">
              <a:buFont typeface="Arial" pitchFamily="34" charset="0"/>
              <a:buChar char="•"/>
            </a:pPr>
            <a:r>
              <a:rPr lang="en-US" sz="1800" dirty="0">
                <a:latin typeface="Times New Roman" panose="02020603050405020304" pitchFamily="18" charset="0"/>
                <a:cs typeface="Times New Roman" pitchFamily="18" charset="0"/>
              </a:rPr>
              <a:t>No extra equipment needed</a:t>
            </a:r>
            <a:r>
              <a:rPr lang="en-US" dirty="0">
                <a:latin typeface="Times New Roman" panose="02020603050405020304" pitchFamily="18" charset="0"/>
                <a:cs typeface="Times New Roman" panose="02020603050405020304" pitchFamily="18" charset="0"/>
              </a:rPr>
              <a:t>.</a:t>
            </a:r>
          </a:p>
          <a:p>
            <a:pPr marL="171450" indent="-171450">
              <a:buFont typeface="Arial" pitchFamily="34" charset="0"/>
              <a:buChar char="•"/>
            </a:pPr>
            <a:endParaRPr lang="en-US" sz="700" dirty="0">
              <a:latin typeface="Times New Roman" panose="02020603050405020304" pitchFamily="18" charset="0"/>
              <a:cs typeface="Times New Roman" panose="02020603050405020304" pitchFamily="18" charset="0"/>
            </a:endParaRPr>
          </a:p>
          <a:p>
            <a:pPr marL="285750" indent="-285750">
              <a:buFont typeface="Arial" pitchFamily="34" charset="0"/>
              <a:buChar char="•"/>
            </a:pPr>
            <a:r>
              <a:rPr lang="en-US" sz="1800" dirty="0">
                <a:latin typeface="Times New Roman" panose="02020603050405020304" pitchFamily="18" charset="0"/>
                <a:cs typeface="Times New Roman" pitchFamily="18" charset="0"/>
              </a:rPr>
              <a:t>Reduces disaster losses — cost-effective for users.</a:t>
            </a:r>
          </a:p>
          <a:p>
            <a:endParaRPr lang="en-US" sz="1800" dirty="0">
              <a:latin typeface="Times New Roman" panose="02020603050405020304" pitchFamily="18" charset="0"/>
              <a:cs typeface="Times New Roman" pitchFamily="18" charset="0"/>
            </a:endParaRPr>
          </a:p>
          <a:p>
            <a:endParaRPr lang="en-US" sz="1800" dirty="0">
              <a:latin typeface="Times New Roman" panose="02020603050405020304" pitchFamily="18" charset="0"/>
              <a:cs typeface="Times New Roman" pitchFamily="18" charset="0"/>
            </a:endParaRPr>
          </a:p>
          <a:p>
            <a:r>
              <a:rPr lang="en-US" sz="2000" b="1" dirty="0">
                <a:latin typeface="Times New Roman" panose="02020603050405020304" pitchFamily="18" charset="0"/>
                <a:cs typeface="Times New Roman" pitchFamily="18" charset="0"/>
              </a:rPr>
              <a:t>Operational Feasibility</a:t>
            </a:r>
          </a:p>
          <a:p>
            <a:endParaRPr lang="en-US" sz="1100" dirty="0">
              <a:latin typeface="Times New Roman" panose="02020603050405020304" pitchFamily="18" charset="0"/>
              <a:cs typeface="Times New Roman" pitchFamily="18" charset="0"/>
            </a:endParaRPr>
          </a:p>
          <a:p>
            <a:pPr marL="285750" indent="-285750">
              <a:buFont typeface="Arial" pitchFamily="34" charset="0"/>
              <a:buChar char="•"/>
            </a:pPr>
            <a:r>
              <a:rPr lang="en-US" sz="1800" dirty="0">
                <a:latin typeface="Times New Roman" pitchFamily="18" charset="0"/>
                <a:cs typeface="Times New Roman" pitchFamily="18" charset="0"/>
              </a:rPr>
              <a:t>Easy to use for authorities and </a:t>
            </a:r>
          </a:p>
          <a:p>
            <a:r>
              <a:rPr lang="en-US" sz="1800" dirty="0">
                <a:latin typeface="Times New Roman" pitchFamily="18" charset="0"/>
                <a:cs typeface="Times New Roman" pitchFamily="18" charset="0"/>
              </a:rPr>
              <a:t>     researchers.</a:t>
            </a:r>
          </a:p>
          <a:p>
            <a:pPr marL="171450" indent="-171450">
              <a:buFont typeface="Arial" pitchFamily="34" charset="0"/>
              <a:buChar char="•"/>
            </a:pPr>
            <a:endParaRPr lang="en-US" sz="700" dirty="0">
              <a:latin typeface="Times New Roman" panose="02020603050405020304" pitchFamily="18" charset="0"/>
              <a:cs typeface="Times New Roman" panose="02020603050405020304" pitchFamily="18" charset="0"/>
            </a:endParaRPr>
          </a:p>
          <a:p>
            <a:pPr marL="285750" indent="-285750">
              <a:buFont typeface="Arial" pitchFamily="34" charset="0"/>
              <a:buChar char="•"/>
            </a:pPr>
            <a:r>
              <a:rPr lang="en-US" sz="1800" dirty="0">
                <a:latin typeface="Times New Roman" panose="02020603050405020304" pitchFamily="18" charset="0"/>
                <a:cs typeface="Times New Roman" pitchFamily="18" charset="0"/>
              </a:rPr>
              <a:t>Provides alerts</a:t>
            </a:r>
            <a:r>
              <a:rPr lang="en-US" dirty="0">
                <a:latin typeface="Times New Roman" panose="02020603050405020304" pitchFamily="18" charset="0"/>
                <a:cs typeface="Times New Roman" panose="02020603050405020304" pitchFamily="18" charset="0"/>
              </a:rPr>
              <a:t>.</a:t>
            </a:r>
          </a:p>
          <a:p>
            <a:pPr marL="171450" indent="-171450">
              <a:buFont typeface="Arial" pitchFamily="34" charset="0"/>
              <a:buChar char="•"/>
            </a:pPr>
            <a:endParaRPr lang="en-US" sz="700" dirty="0">
              <a:latin typeface="Times New Roman" panose="02020603050405020304" pitchFamily="18" charset="0"/>
              <a:cs typeface="Times New Roman" panose="02020603050405020304" pitchFamily="18" charset="0"/>
            </a:endParaRPr>
          </a:p>
          <a:p>
            <a:pPr marL="285750" indent="-285750">
              <a:buFont typeface="Arial" pitchFamily="34" charset="0"/>
              <a:buChar char="•"/>
            </a:pPr>
            <a:r>
              <a:rPr lang="en-US" sz="1800" dirty="0">
                <a:latin typeface="Times New Roman" panose="02020603050405020304" pitchFamily="18" charset="0"/>
                <a:cs typeface="Times New Roman" pitchFamily="18" charset="0"/>
              </a:rPr>
              <a:t>Can be deployed as web or mobile application</a:t>
            </a:r>
            <a:r>
              <a:rPr lang="en-US"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A4AECD44-189C-2B66-2A3E-17523E69F6A8}"/>
              </a:ext>
            </a:extLst>
          </p:cNvPr>
          <p:cNvSpPr txBox="1"/>
          <p:nvPr/>
        </p:nvSpPr>
        <p:spPr>
          <a:xfrm>
            <a:off x="5004048" y="1609333"/>
            <a:ext cx="4572000" cy="400110"/>
          </a:xfrm>
          <a:prstGeom prst="rect">
            <a:avLst/>
          </a:prstGeom>
          <a:noFill/>
        </p:spPr>
        <p:txBody>
          <a:bodyPr wrap="square">
            <a:spAutoFit/>
          </a:bodyPr>
          <a:lstStyle/>
          <a:p>
            <a:r>
              <a:rPr lang="en-US" sz="2000" b="1" dirty="0">
                <a:latin typeface="Times New Roman" panose="02020603050405020304" pitchFamily="18" charset="0"/>
                <a:cs typeface="Times New Roman" pitchFamily="18" charset="0"/>
              </a:rPr>
              <a:t>Economic Feasibility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3394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D3E32-C239-7525-5A2A-E29F3FB85D6D}"/>
              </a:ext>
            </a:extLst>
          </p:cNvPr>
          <p:cNvSpPr>
            <a:spLocks noGrp="1"/>
          </p:cNvSpPr>
          <p:nvPr>
            <p:ph type="title"/>
          </p:nvPr>
        </p:nvSpPr>
        <p:spPr>
          <a:xfrm>
            <a:off x="1115616" y="274638"/>
            <a:ext cx="7818072" cy="1143000"/>
          </a:xfrm>
        </p:spPr>
        <p:txBody>
          <a:bodyPr>
            <a:normAutofit/>
          </a:bodyPr>
          <a:lstStyle/>
          <a:p>
            <a:r>
              <a:rPr lang="en-IN" sz="4000" b="1" dirty="0">
                <a:solidFill>
                  <a:srgbClr val="002060"/>
                </a:solidFill>
                <a:latin typeface="Times New Roman" pitchFamily="18" charset="0"/>
                <a:cs typeface="Times New Roman" pitchFamily="18" charset="0"/>
              </a:rPr>
              <a:t>Requirement Engineering</a:t>
            </a:r>
            <a:endParaRPr lang="en-IN" sz="4000" b="1" dirty="0">
              <a:solidFill>
                <a:srgbClr val="002060"/>
              </a:solidFill>
            </a:endParaRPr>
          </a:p>
        </p:txBody>
      </p:sp>
      <p:sp>
        <p:nvSpPr>
          <p:cNvPr id="3" name="Content Placeholder 2">
            <a:extLst>
              <a:ext uri="{FF2B5EF4-FFF2-40B4-BE49-F238E27FC236}">
                <a16:creationId xmlns:a16="http://schemas.microsoft.com/office/drawing/2014/main" id="{B6E651E2-3C18-F2B1-8D8C-D352A3933FCB}"/>
              </a:ext>
            </a:extLst>
          </p:cNvPr>
          <p:cNvSpPr>
            <a:spLocks noGrp="1"/>
          </p:cNvSpPr>
          <p:nvPr>
            <p:ph idx="1"/>
          </p:nvPr>
        </p:nvSpPr>
        <p:spPr/>
        <p:txBody>
          <a:bodyPr>
            <a:normAutofit fontScale="62500" lnSpcReduction="20000"/>
          </a:bodyPr>
          <a:lstStyle/>
          <a:p>
            <a:pPr marL="342900" indent="-342900">
              <a:buFont typeface="Wingdings" pitchFamily="2" charset="2"/>
              <a:buChar char="Ø"/>
            </a:pPr>
            <a:r>
              <a:rPr lang="en-US" sz="3800" b="1" dirty="0">
                <a:latin typeface="Times New Roman" pitchFamily="18" charset="0"/>
                <a:cs typeface="Times New Roman" pitchFamily="18" charset="0"/>
              </a:rPr>
              <a:t>Functional Requirements</a:t>
            </a:r>
          </a:p>
          <a:p>
            <a:pPr marL="82296" indent="0">
              <a:buNone/>
            </a:pPr>
            <a:endParaRPr lang="en-US" dirty="0">
              <a:latin typeface="Times New Roman" panose="02020603050405020304" pitchFamily="18" charset="0"/>
              <a:cs typeface="Times New Roman" pitchFamily="18" charset="0"/>
            </a:endParaRPr>
          </a:p>
          <a:p>
            <a:pPr marL="82296" indent="0">
              <a:buNone/>
            </a:pPr>
            <a:r>
              <a:rPr lang="en-IN" dirty="0">
                <a:latin typeface="Times New Roman" panose="02020603050405020304" pitchFamily="18" charset="0"/>
                <a:cs typeface="Times New Roman" panose="02020603050405020304" pitchFamily="18" charset="0"/>
              </a:rPr>
              <a:t>✔ Collect and preprocess </a:t>
            </a:r>
            <a:r>
              <a:rPr lang="en-IN" b="1" dirty="0">
                <a:latin typeface="Times New Roman" panose="02020603050405020304" pitchFamily="18" charset="0"/>
                <a:cs typeface="Times New Roman" panose="02020603050405020304" pitchFamily="18" charset="0"/>
              </a:rPr>
              <a:t>satellite images (resize, normalize)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Detect landslides using </a:t>
            </a:r>
            <a:r>
              <a:rPr lang="en-IN" b="1" dirty="0">
                <a:latin typeface="Times New Roman" panose="02020603050405020304" pitchFamily="18" charset="0"/>
                <a:cs typeface="Times New Roman" panose="02020603050405020304" pitchFamily="18" charset="0"/>
              </a:rPr>
              <a:t>Deep Learning (MobileNetV2 CNN model)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Classify images as </a:t>
            </a:r>
            <a:r>
              <a:rPr lang="en-IN" b="1" dirty="0">
                <a:latin typeface="Times New Roman" panose="02020603050405020304" pitchFamily="18" charset="0"/>
                <a:cs typeface="Times New Roman" panose="02020603050405020304" pitchFamily="18" charset="0"/>
              </a:rPr>
              <a:t>Landslide or Non-landslide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Display prediction results with </a:t>
            </a:r>
            <a:r>
              <a:rPr lang="en-IN" b="1" dirty="0">
                <a:latin typeface="Times New Roman" panose="02020603050405020304" pitchFamily="18" charset="0"/>
                <a:cs typeface="Times New Roman" panose="02020603050405020304" pitchFamily="18" charset="0"/>
              </a:rPr>
              <a:t>confidence score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Generate alerts when </a:t>
            </a:r>
            <a:r>
              <a:rPr lang="en-IN" b="1" dirty="0">
                <a:latin typeface="Times New Roman" panose="02020603050405020304" pitchFamily="18" charset="0"/>
                <a:cs typeface="Times New Roman" panose="02020603050405020304" pitchFamily="18" charset="0"/>
              </a:rPr>
              <a:t>landslide is detected</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marL="342900" indent="-342900">
              <a:buFont typeface="Wingdings" pitchFamily="2" charset="2"/>
              <a:buChar char="Ø"/>
            </a:pPr>
            <a:r>
              <a:rPr lang="en-US" sz="3800" b="1" dirty="0">
                <a:latin typeface="Times New Roman" pitchFamily="18" charset="0"/>
                <a:cs typeface="Times New Roman" pitchFamily="18" charset="0"/>
              </a:rPr>
              <a:t>Non-Functional Requirements</a:t>
            </a:r>
          </a:p>
          <a:p>
            <a:endParaRPr lang="en-US" sz="1800" dirty="0">
              <a:latin typeface="Times New Roman" pitchFamily="18" charset="0"/>
              <a:cs typeface="Times New Roman" pitchFamily="18" charset="0"/>
            </a:endParaRPr>
          </a:p>
          <a:p>
            <a:pPr marL="82296"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Performance:</a:t>
            </a:r>
            <a:r>
              <a:rPr lang="en-IN" dirty="0">
                <a:latin typeface="Times New Roman" panose="02020603050405020304" pitchFamily="18" charset="0"/>
                <a:cs typeface="Times New Roman" panose="02020603050405020304" pitchFamily="18" charset="0"/>
              </a:rPr>
              <a:t> Achieves ~94% accuracy in prediction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Usability:</a:t>
            </a:r>
            <a:r>
              <a:rPr lang="en-IN" dirty="0">
                <a:latin typeface="Times New Roman" panose="02020603050405020304" pitchFamily="18" charset="0"/>
                <a:cs typeface="Times New Roman" panose="02020603050405020304" pitchFamily="18" charset="0"/>
              </a:rPr>
              <a:t> Simple and user-friendly interface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Reliability:</a:t>
            </a:r>
            <a:r>
              <a:rPr lang="en-IN" dirty="0">
                <a:latin typeface="Times New Roman" panose="02020603050405020304" pitchFamily="18" charset="0"/>
                <a:cs typeface="Times New Roman" panose="02020603050405020304" pitchFamily="18" charset="0"/>
              </a:rPr>
              <a:t> Provides consistent results for different image conditions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Security:</a:t>
            </a:r>
            <a:r>
              <a:rPr lang="en-IN" dirty="0">
                <a:latin typeface="Times New Roman" panose="02020603050405020304" pitchFamily="18" charset="0"/>
                <a:cs typeface="Times New Roman" panose="02020603050405020304" pitchFamily="18" charset="0"/>
              </a:rPr>
              <a:t> Access restricted to authorized users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Can handle larger datasets in future</a:t>
            </a:r>
            <a:endParaRPr lang="en-US" dirty="0">
              <a:latin typeface="Times New Roman" panose="02020603050405020304" pitchFamily="18" charset="0"/>
              <a:cs typeface="Times New Roman" pitchFamily="18" charset="0"/>
            </a:endParaRPr>
          </a:p>
          <a:p>
            <a:endParaRPr lang="en-IN" dirty="0"/>
          </a:p>
        </p:txBody>
      </p:sp>
    </p:spTree>
    <p:extLst>
      <p:ext uri="{BB962C8B-B14F-4D97-AF65-F5344CB8AC3E}">
        <p14:creationId xmlns:p14="http://schemas.microsoft.com/office/powerpoint/2010/main" val="4024809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573DB-C622-FDFD-D2F3-FB75099E9569}"/>
              </a:ext>
            </a:extLst>
          </p:cNvPr>
          <p:cNvSpPr>
            <a:spLocks noGrp="1"/>
          </p:cNvSpPr>
          <p:nvPr>
            <p:ph type="title"/>
          </p:nvPr>
        </p:nvSpPr>
        <p:spPr/>
        <p:txBody>
          <a:bodyPr>
            <a:normAutofit fontScale="90000"/>
          </a:bodyPr>
          <a:lstStyle/>
          <a:p>
            <a:r>
              <a:rPr lang="en-IN" sz="4000" b="1" dirty="0">
                <a:solidFill>
                  <a:srgbClr val="002060"/>
                </a:solidFill>
                <a:latin typeface="Times New Roman" pitchFamily="18" charset="0"/>
                <a:cs typeface="Times New Roman" pitchFamily="18" charset="0"/>
              </a:rPr>
              <a:t>Software Requirement Specification (SRS)</a:t>
            </a:r>
            <a:br>
              <a:rPr lang="en-IN" sz="4400" dirty="0">
                <a:solidFill>
                  <a:srgbClr val="002060"/>
                </a:solidFill>
                <a:latin typeface="Times New Roman" pitchFamily="18" charset="0"/>
                <a:cs typeface="Times New Roman" pitchFamily="18" charset="0"/>
              </a:rPr>
            </a:br>
            <a:endParaRPr lang="en-IN" dirty="0">
              <a:solidFill>
                <a:srgbClr val="002060"/>
              </a:solidFill>
            </a:endParaRPr>
          </a:p>
        </p:txBody>
      </p:sp>
      <p:sp>
        <p:nvSpPr>
          <p:cNvPr id="3" name="Content Placeholder 2">
            <a:extLst>
              <a:ext uri="{FF2B5EF4-FFF2-40B4-BE49-F238E27FC236}">
                <a16:creationId xmlns:a16="http://schemas.microsoft.com/office/drawing/2014/main" id="{BD65B1C3-7110-76AF-7DE2-8CC28C0F39DD}"/>
              </a:ext>
            </a:extLst>
          </p:cNvPr>
          <p:cNvSpPr>
            <a:spLocks noGrp="1"/>
          </p:cNvSpPr>
          <p:nvPr>
            <p:ph idx="1"/>
          </p:nvPr>
        </p:nvSpPr>
        <p:spPr>
          <a:xfrm>
            <a:off x="1435608" y="1447800"/>
            <a:ext cx="7312856" cy="5135562"/>
          </a:xfrm>
        </p:spPr>
        <p:txBody>
          <a:bodyPr>
            <a:normAutofit fontScale="70000" lnSpcReduction="20000"/>
          </a:bodyPr>
          <a:lstStyle/>
          <a:p>
            <a:pPr marL="82296" indent="0">
              <a:buNone/>
            </a:pPr>
            <a:r>
              <a:rPr lang="en-US" sz="3100" b="1" dirty="0">
                <a:latin typeface="Times New Roman" panose="02020603050405020304" pitchFamily="18" charset="0"/>
                <a:cs typeface="Times New Roman" panose="02020603050405020304" pitchFamily="18" charset="0"/>
              </a:rPr>
              <a:t>Purpose</a:t>
            </a:r>
          </a:p>
          <a:p>
            <a:pPr algn="just"/>
            <a:r>
              <a:rPr lang="en-US" sz="2600" dirty="0">
                <a:latin typeface="Times New Roman" panose="02020603050405020304" pitchFamily="18" charset="0"/>
                <a:cs typeface="Times New Roman" panose="02020603050405020304" pitchFamily="18" charset="0"/>
              </a:rPr>
              <a:t>The purpose of this system is to develop an AI-based solution for detecting and predicting landslides using satellite imagery, terrain, and rainfall data. The system aims to provide early warnings to reduce damage and improve safety.</a:t>
            </a:r>
          </a:p>
          <a:p>
            <a:pPr marL="82296" indent="0">
              <a:buNone/>
            </a:pPr>
            <a:endParaRPr lang="en-US" sz="2400" dirty="0">
              <a:latin typeface="Times New Roman" panose="02020603050405020304" pitchFamily="18" charset="0"/>
              <a:cs typeface="Times New Roman" panose="02020603050405020304" pitchFamily="18" charset="0"/>
            </a:endParaRPr>
          </a:p>
          <a:p>
            <a:pPr marL="82296" indent="0">
              <a:buNone/>
            </a:pPr>
            <a:r>
              <a:rPr lang="en-US" sz="3100" b="1" dirty="0">
                <a:latin typeface="Times New Roman" panose="02020603050405020304" pitchFamily="18" charset="0"/>
                <a:cs typeface="Times New Roman" panose="02020603050405020304" pitchFamily="18" charset="0"/>
              </a:rPr>
              <a:t>Scope</a:t>
            </a:r>
          </a:p>
          <a:p>
            <a:r>
              <a:rPr lang="en-US" sz="2600" dirty="0">
                <a:latin typeface="Times New Roman" panose="02020603050405020304" pitchFamily="18" charset="0"/>
                <a:cs typeface="Times New Roman" panose="02020603050405020304" pitchFamily="18" charset="0"/>
              </a:rPr>
              <a:t>The system focuses on automated analysis of image and environmental data to detect landslides and generate timely alerts for authorities and communities.</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It does not include detailed risk mapping, real-time field monitoring, or rescue operations, but serves as an early warning support system.</a:t>
            </a:r>
          </a:p>
          <a:p>
            <a:pPr marL="82296" indent="0">
              <a:buNone/>
            </a:pPr>
            <a:endParaRPr lang="en-US" sz="2400" dirty="0">
              <a:latin typeface="Times New Roman" panose="02020603050405020304" pitchFamily="18" charset="0"/>
              <a:cs typeface="Times New Roman" panose="02020603050405020304" pitchFamily="18" charset="0"/>
            </a:endParaRPr>
          </a:p>
          <a:p>
            <a:pPr marL="82296" indent="0">
              <a:buNone/>
            </a:pPr>
            <a:r>
              <a:rPr lang="en-US" sz="3100" b="1" dirty="0">
                <a:latin typeface="Times New Roman" panose="02020603050405020304" pitchFamily="18" charset="0"/>
                <a:cs typeface="Times New Roman" panose="02020603050405020304" pitchFamily="18" charset="0"/>
              </a:rPr>
              <a:t>Constraints</a:t>
            </a:r>
          </a:p>
          <a:p>
            <a:r>
              <a:rPr lang="en-US" sz="2600" dirty="0">
                <a:latin typeface="Times New Roman" panose="02020603050405020304" pitchFamily="18" charset="0"/>
                <a:cs typeface="Times New Roman" panose="02020603050405020304" pitchFamily="18" charset="0"/>
              </a:rPr>
              <a:t>Limited availability of labeled datasets </a:t>
            </a:r>
          </a:p>
          <a:p>
            <a:r>
              <a:rPr lang="en-US" sz="2600" dirty="0">
                <a:latin typeface="Times New Roman" panose="02020603050405020304" pitchFamily="18" charset="0"/>
                <a:cs typeface="Times New Roman" panose="02020603050405020304" pitchFamily="18" charset="0"/>
              </a:rPr>
              <a:t>High computational requirements for model training </a:t>
            </a:r>
          </a:p>
          <a:p>
            <a:r>
              <a:rPr lang="en-US" sz="2600" dirty="0">
                <a:latin typeface="Times New Roman" panose="02020603050405020304" pitchFamily="18" charset="0"/>
                <a:cs typeface="Times New Roman" panose="02020603050405020304" pitchFamily="18" charset="0"/>
              </a:rPr>
              <a:t>Dependence on availability and quality of satellite data </a:t>
            </a:r>
          </a:p>
        </p:txBody>
      </p:sp>
    </p:spTree>
    <p:extLst>
      <p:ext uri="{BB962C8B-B14F-4D97-AF65-F5344CB8AC3E}">
        <p14:creationId xmlns:p14="http://schemas.microsoft.com/office/powerpoint/2010/main" val="2250975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3C13B-4B92-7002-1ECD-B1069D8609AD}"/>
              </a:ext>
            </a:extLst>
          </p:cNvPr>
          <p:cNvSpPr>
            <a:spLocks noGrp="1"/>
          </p:cNvSpPr>
          <p:nvPr>
            <p:ph type="title"/>
          </p:nvPr>
        </p:nvSpPr>
        <p:spPr>
          <a:xfrm>
            <a:off x="1137774" y="212927"/>
            <a:ext cx="7467600" cy="487362"/>
          </a:xfrm>
        </p:spPr>
        <p:txBody>
          <a:bodyPr>
            <a:noAutofit/>
          </a:bodyPr>
          <a:lstStyle/>
          <a:p>
            <a:r>
              <a:rPr lang="en-IN" sz="4000" b="1" dirty="0">
                <a:solidFill>
                  <a:srgbClr val="002060"/>
                </a:solidFill>
                <a:latin typeface="Times New Roman" panose="02020603050405020304" pitchFamily="18" charset="0"/>
                <a:cs typeface="Times New Roman" panose="02020603050405020304" pitchFamily="18" charset="0"/>
              </a:rPr>
              <a:t>Results :</a:t>
            </a:r>
          </a:p>
        </p:txBody>
      </p:sp>
      <p:pic>
        <p:nvPicPr>
          <p:cNvPr id="5" name="Content Placeholder 4">
            <a:extLst>
              <a:ext uri="{FF2B5EF4-FFF2-40B4-BE49-F238E27FC236}">
                <a16:creationId xmlns:a16="http://schemas.microsoft.com/office/drawing/2014/main" id="{10311B95-79BD-112D-2A63-7AAC0C3899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0694" y="1194329"/>
            <a:ext cx="3770880" cy="2450695"/>
          </a:xfrm>
          <a:prstGeom prst="rect">
            <a:avLst/>
          </a:prstGeom>
        </p:spPr>
      </p:pic>
      <p:sp>
        <p:nvSpPr>
          <p:cNvPr id="7" name="TextBox 6">
            <a:extLst>
              <a:ext uri="{FF2B5EF4-FFF2-40B4-BE49-F238E27FC236}">
                <a16:creationId xmlns:a16="http://schemas.microsoft.com/office/drawing/2014/main" id="{AB8DB71C-D540-752C-CE49-BEDE0E466C5D}"/>
              </a:ext>
            </a:extLst>
          </p:cNvPr>
          <p:cNvSpPr txBox="1"/>
          <p:nvPr/>
        </p:nvSpPr>
        <p:spPr>
          <a:xfrm>
            <a:off x="941988" y="4059154"/>
            <a:ext cx="3990052" cy="2308324"/>
          </a:xfrm>
          <a:prstGeom prst="rect">
            <a:avLst/>
          </a:prstGeom>
          <a:noFill/>
        </p:spPr>
        <p:txBody>
          <a:bodyPr wrap="square">
            <a:spAutoFit/>
          </a:bodyPr>
          <a:lstStyle/>
          <a:p>
            <a:pPr algn="ctr">
              <a:buNone/>
            </a:pPr>
            <a:r>
              <a:rPr lang="en-US" sz="2000" b="1" dirty="0">
                <a:latin typeface="Times New Roman" panose="02020603050405020304" pitchFamily="18" charset="0"/>
                <a:cs typeface="Times New Roman" panose="02020603050405020304" pitchFamily="18" charset="0"/>
              </a:rPr>
              <a:t>Fig.2:Classification Report</a:t>
            </a:r>
          </a:p>
          <a:p>
            <a:pPr algn="ctr">
              <a:buNone/>
            </a:pPr>
            <a:endParaRPr lang="en-US" sz="1600" b="1" dirty="0"/>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Shows model performance using </a:t>
            </a:r>
            <a:r>
              <a:rPr lang="en-US" b="1" dirty="0">
                <a:latin typeface="Times New Roman" panose="02020603050405020304" pitchFamily="18" charset="0"/>
                <a:cs typeface="Times New Roman" panose="02020603050405020304" pitchFamily="18" charset="0"/>
              </a:rPr>
              <a:t>precision, recall, and F1-score</a:t>
            </a:r>
            <a:r>
              <a:rPr lang="en-US" dirty="0">
                <a:latin typeface="Times New Roman" panose="02020603050405020304" pitchFamily="18" charset="0"/>
                <a:cs typeface="Times New Roman" panose="02020603050405020304" pitchFamily="18" charset="0"/>
              </a:rPr>
              <a:t> for both classes.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Achieves </a:t>
            </a:r>
            <a:r>
              <a:rPr lang="en-US" b="1" dirty="0">
                <a:latin typeface="Times New Roman" panose="02020603050405020304" pitchFamily="18" charset="0"/>
                <a:cs typeface="Times New Roman" panose="02020603050405020304" pitchFamily="18" charset="0"/>
              </a:rPr>
              <a:t>94% overall accuracy</a:t>
            </a:r>
            <a:r>
              <a:rPr lang="en-US" dirty="0">
                <a:latin typeface="Times New Roman" panose="02020603050405020304" pitchFamily="18" charset="0"/>
                <a:cs typeface="Times New Roman" panose="02020603050405020304" pitchFamily="18" charset="0"/>
              </a:rPr>
              <a:t>, indicating strong and balanced classification. </a:t>
            </a:r>
          </a:p>
        </p:txBody>
      </p:sp>
      <p:pic>
        <p:nvPicPr>
          <p:cNvPr id="11" name="Picture 10">
            <a:extLst>
              <a:ext uri="{FF2B5EF4-FFF2-40B4-BE49-F238E27FC236}">
                <a16:creationId xmlns:a16="http://schemas.microsoft.com/office/drawing/2014/main" id="{29032574-EB60-20EF-E9CB-5B0E7468B8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206" y="721880"/>
            <a:ext cx="3986262" cy="3321885"/>
          </a:xfrm>
          <a:prstGeom prst="rect">
            <a:avLst/>
          </a:prstGeom>
        </p:spPr>
      </p:pic>
      <p:sp>
        <p:nvSpPr>
          <p:cNvPr id="13" name="TextBox 12">
            <a:extLst>
              <a:ext uri="{FF2B5EF4-FFF2-40B4-BE49-F238E27FC236}">
                <a16:creationId xmlns:a16="http://schemas.microsoft.com/office/drawing/2014/main" id="{4C0E6A0D-6292-3275-321A-FC37C62AA1F3}"/>
              </a:ext>
            </a:extLst>
          </p:cNvPr>
          <p:cNvSpPr txBox="1"/>
          <p:nvPr/>
        </p:nvSpPr>
        <p:spPr>
          <a:xfrm>
            <a:off x="5233367" y="4043765"/>
            <a:ext cx="3837939" cy="2339102"/>
          </a:xfrm>
          <a:prstGeom prst="rect">
            <a:avLst/>
          </a:prstGeom>
          <a:noFill/>
        </p:spPr>
        <p:txBody>
          <a:bodyPr wrap="square">
            <a:spAutoFit/>
          </a:bodyPr>
          <a:lstStyle/>
          <a:p>
            <a:pPr algn="ctr">
              <a:buNone/>
            </a:pPr>
            <a:r>
              <a:rPr lang="en-US" sz="2000" b="1" dirty="0">
                <a:latin typeface="Times New Roman" panose="02020603050405020304" pitchFamily="18" charset="0"/>
                <a:cs typeface="Times New Roman" panose="02020603050405020304" pitchFamily="18" charset="0"/>
              </a:rPr>
              <a:t>Fig.3:Confusion Matrix</a:t>
            </a:r>
          </a:p>
          <a:p>
            <a:pPr algn="ctr">
              <a:buNone/>
            </a:pPr>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Displays correct and incorrect predictions, with </a:t>
            </a:r>
            <a:r>
              <a:rPr lang="en-US" b="1" dirty="0">
                <a:latin typeface="Times New Roman" panose="02020603050405020304" pitchFamily="18" charset="0"/>
                <a:cs typeface="Times New Roman" panose="02020603050405020304" pitchFamily="18" charset="0"/>
              </a:rPr>
              <a:t>high correct classification (157 &amp; 141)</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Very few misclassifications, proving the model is </a:t>
            </a:r>
            <a:r>
              <a:rPr lang="en-US" b="1" dirty="0">
                <a:latin typeface="Times New Roman" panose="02020603050405020304" pitchFamily="18" charset="0"/>
                <a:cs typeface="Times New Roman" panose="02020603050405020304" pitchFamily="18" charset="0"/>
              </a:rPr>
              <a:t>highly reliable and accurate</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90761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AD72F5-E13D-118F-4123-EE91B4FD00C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61479" y="762000"/>
            <a:ext cx="7467600" cy="3027040"/>
          </a:xfrm>
          <a:prstGeom prst="rect">
            <a:avLst/>
          </a:prstGeom>
        </p:spPr>
      </p:pic>
      <p:sp>
        <p:nvSpPr>
          <p:cNvPr id="7" name="TextBox 6">
            <a:extLst>
              <a:ext uri="{FF2B5EF4-FFF2-40B4-BE49-F238E27FC236}">
                <a16:creationId xmlns:a16="http://schemas.microsoft.com/office/drawing/2014/main" id="{996BD137-55B2-9EB4-E0C3-478A0DB5968C}"/>
              </a:ext>
            </a:extLst>
          </p:cNvPr>
          <p:cNvSpPr txBox="1"/>
          <p:nvPr/>
        </p:nvSpPr>
        <p:spPr>
          <a:xfrm>
            <a:off x="1835696" y="4077072"/>
            <a:ext cx="6472576" cy="1508105"/>
          </a:xfrm>
          <a:prstGeom prst="rect">
            <a:avLst/>
          </a:prstGeom>
          <a:noFill/>
        </p:spPr>
        <p:txBody>
          <a:bodyPr wrap="square">
            <a:spAutoFit/>
          </a:bodyPr>
          <a:lstStyle/>
          <a:p>
            <a:pPr algn="ctr">
              <a:buNone/>
            </a:pPr>
            <a:r>
              <a:rPr lang="en-US" sz="2000" b="1" dirty="0">
                <a:latin typeface="Times New Roman" panose="02020603050405020304" pitchFamily="18" charset="0"/>
                <a:cs typeface="Times New Roman" panose="02020603050405020304" pitchFamily="18" charset="0"/>
              </a:rPr>
              <a:t>Fig.4:Training History (Accuracy &amp; Loss Graph)</a:t>
            </a:r>
          </a:p>
          <a:p>
            <a:pPr algn="ctr">
              <a:buNone/>
            </a:pPr>
            <a:endParaRPr lang="en-US" b="1" dirty="0"/>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Training accuracy increases steadily while validation accuracy remains stable, showing </a:t>
            </a:r>
            <a:r>
              <a:rPr lang="en-US" b="1" dirty="0">
                <a:latin typeface="Times New Roman" panose="02020603050405020304" pitchFamily="18" charset="0"/>
                <a:cs typeface="Times New Roman" panose="02020603050405020304" pitchFamily="18" charset="0"/>
              </a:rPr>
              <a:t>good learning behavior</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Loss graph indicates </a:t>
            </a:r>
            <a:r>
              <a:rPr lang="en-US" b="1" dirty="0">
                <a:latin typeface="Times New Roman" panose="02020603050405020304" pitchFamily="18" charset="0"/>
                <a:cs typeface="Times New Roman" panose="02020603050405020304" pitchFamily="18" charset="0"/>
              </a:rPr>
              <a:t>low training loss.</a:t>
            </a:r>
          </a:p>
        </p:txBody>
      </p:sp>
    </p:spTree>
    <p:extLst>
      <p:ext uri="{BB962C8B-B14F-4D97-AF65-F5344CB8AC3E}">
        <p14:creationId xmlns:p14="http://schemas.microsoft.com/office/powerpoint/2010/main" val="1373907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560" y="-319491"/>
            <a:ext cx="7467600" cy="1143000"/>
          </a:xfrm>
        </p:spPr>
        <p:txBody>
          <a:bodyPr>
            <a:normAutofit/>
          </a:bodyPr>
          <a:lstStyle/>
          <a:p>
            <a:pPr algn="ctr"/>
            <a:r>
              <a:rPr lang="en-IN" sz="3600" b="1" dirty="0">
                <a:solidFill>
                  <a:srgbClr val="002060"/>
                </a:solidFill>
                <a:latin typeface="Times New Roman" pitchFamily="18" charset="0"/>
                <a:cs typeface="Times New Roman" pitchFamily="18" charset="0"/>
              </a:rPr>
              <a:t>MODULS  Screenshot</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84543" y="789289"/>
            <a:ext cx="5102703" cy="2239671"/>
          </a:xfr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5894" y="3479187"/>
            <a:ext cx="5334000" cy="2849405"/>
          </a:xfrm>
          <a:prstGeom prst="rect">
            <a:avLst/>
          </a:prstGeom>
        </p:spPr>
      </p:pic>
      <p:sp>
        <p:nvSpPr>
          <p:cNvPr id="5" name="TextBox 4">
            <a:extLst>
              <a:ext uri="{FF2B5EF4-FFF2-40B4-BE49-F238E27FC236}">
                <a16:creationId xmlns:a16="http://schemas.microsoft.com/office/drawing/2014/main" id="{C5F6E299-D163-AEA7-6D94-17AC24ABFDCA}"/>
              </a:ext>
            </a:extLst>
          </p:cNvPr>
          <p:cNvSpPr txBox="1"/>
          <p:nvPr/>
        </p:nvSpPr>
        <p:spPr>
          <a:xfrm>
            <a:off x="2627784" y="3028960"/>
            <a:ext cx="45720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 5:Home Page of the system</a:t>
            </a:r>
          </a:p>
        </p:txBody>
      </p:sp>
      <p:sp>
        <p:nvSpPr>
          <p:cNvPr id="8" name="TextBox 7">
            <a:extLst>
              <a:ext uri="{FF2B5EF4-FFF2-40B4-BE49-F238E27FC236}">
                <a16:creationId xmlns:a16="http://schemas.microsoft.com/office/drawing/2014/main" id="{B90AC319-26E7-E4C6-D0EF-D98112294A2B}"/>
              </a:ext>
            </a:extLst>
          </p:cNvPr>
          <p:cNvSpPr txBox="1"/>
          <p:nvPr/>
        </p:nvSpPr>
        <p:spPr>
          <a:xfrm>
            <a:off x="5652120" y="6389231"/>
            <a:ext cx="4913452"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 6: User Login Interface</a:t>
            </a:r>
          </a:p>
        </p:txBody>
      </p:sp>
    </p:spTree>
    <p:extLst>
      <p:ext uri="{BB962C8B-B14F-4D97-AF65-F5344CB8AC3E}">
        <p14:creationId xmlns:p14="http://schemas.microsoft.com/office/powerpoint/2010/main" val="3119339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15616" y="188640"/>
            <a:ext cx="5105400" cy="2844438"/>
          </a:xfrm>
        </p:spPr>
      </p:pic>
      <p:pic>
        <p:nvPicPr>
          <p:cNvPr id="11" name="Picture 10"/>
          <p:cNvPicPr>
            <a:picLocks noChangeAspect="1"/>
          </p:cNvPicPr>
          <p:nvPr/>
        </p:nvPicPr>
        <p:blipFill>
          <a:blip r:embed="rId3"/>
          <a:stretch>
            <a:fillRect/>
          </a:stretch>
        </p:blipFill>
        <p:spPr>
          <a:xfrm>
            <a:off x="3995936" y="3717032"/>
            <a:ext cx="4953000" cy="2447035"/>
          </a:xfrm>
          <a:prstGeom prst="rect">
            <a:avLst/>
          </a:prstGeom>
        </p:spPr>
      </p:pic>
      <p:sp>
        <p:nvSpPr>
          <p:cNvPr id="3" name="TextBox 2">
            <a:extLst>
              <a:ext uri="{FF2B5EF4-FFF2-40B4-BE49-F238E27FC236}">
                <a16:creationId xmlns:a16="http://schemas.microsoft.com/office/drawing/2014/main" id="{151C432F-408C-C6E2-0C59-02AF390ACF4B}"/>
              </a:ext>
            </a:extLst>
          </p:cNvPr>
          <p:cNvSpPr txBox="1"/>
          <p:nvPr/>
        </p:nvSpPr>
        <p:spPr>
          <a:xfrm>
            <a:off x="3668316" y="6322176"/>
            <a:ext cx="4572000" cy="369332"/>
          </a:xfrm>
          <a:prstGeom prst="rect">
            <a:avLst/>
          </a:prstGeom>
          <a:noFill/>
        </p:spPr>
        <p:txBody>
          <a:bodyPr wrap="square">
            <a:spAutoFit/>
          </a:bodyPr>
          <a:lstStyle/>
          <a:p>
            <a:r>
              <a:rPr lang="fr-FR" dirty="0">
                <a:latin typeface="Times New Roman" panose="02020603050405020304" pitchFamily="18" charset="0"/>
                <a:cs typeface="Times New Roman" panose="02020603050405020304" pitchFamily="18" charset="0"/>
              </a:rPr>
              <a:t>Fig. 7: Image </a:t>
            </a:r>
            <a:r>
              <a:rPr lang="fr-FR" dirty="0" err="1">
                <a:latin typeface="Times New Roman" panose="02020603050405020304" pitchFamily="18" charset="0"/>
                <a:cs typeface="Times New Roman" panose="02020603050405020304" pitchFamily="18" charset="0"/>
              </a:rPr>
              <a:t>Analysis</a:t>
            </a:r>
            <a:r>
              <a:rPr lang="fr-FR" dirty="0">
                <a:latin typeface="Times New Roman" panose="02020603050405020304" pitchFamily="18" charset="0"/>
                <a:cs typeface="Times New Roman" panose="02020603050405020304" pitchFamily="18" charset="0"/>
              </a:rPr>
              <a:t> Page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7214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43608" y="620688"/>
            <a:ext cx="5447008" cy="2362199"/>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43808" y="3646512"/>
            <a:ext cx="6156176" cy="2590800"/>
          </a:xfrm>
          <a:prstGeom prst="rect">
            <a:avLst/>
          </a:prstGeom>
        </p:spPr>
      </p:pic>
      <p:sp>
        <p:nvSpPr>
          <p:cNvPr id="6" name="TextBox 5">
            <a:extLst>
              <a:ext uri="{FF2B5EF4-FFF2-40B4-BE49-F238E27FC236}">
                <a16:creationId xmlns:a16="http://schemas.microsoft.com/office/drawing/2014/main" id="{6428E042-F653-A44B-F5FA-54218E1A7E1A}"/>
              </a:ext>
            </a:extLst>
          </p:cNvPr>
          <p:cNvSpPr txBox="1"/>
          <p:nvPr/>
        </p:nvSpPr>
        <p:spPr>
          <a:xfrm>
            <a:off x="4412183" y="6263355"/>
            <a:ext cx="4572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Fig. 9: Prediction History Page</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7DE539F-2519-DAE2-6A07-10F88661F7D5}"/>
              </a:ext>
            </a:extLst>
          </p:cNvPr>
          <p:cNvSpPr txBox="1"/>
          <p:nvPr/>
        </p:nvSpPr>
        <p:spPr>
          <a:xfrm>
            <a:off x="2411760" y="3026822"/>
            <a:ext cx="45720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 8: User Dashboard</a:t>
            </a:r>
          </a:p>
        </p:txBody>
      </p:sp>
    </p:spTree>
    <p:extLst>
      <p:ext uri="{BB962C8B-B14F-4D97-AF65-F5344CB8AC3E}">
        <p14:creationId xmlns:p14="http://schemas.microsoft.com/office/powerpoint/2010/main" val="1209050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DD5A8-C0B7-613E-7344-A247A3B85903}"/>
              </a:ext>
            </a:extLst>
          </p:cNvPr>
          <p:cNvSpPr>
            <a:spLocks noGrp="1"/>
          </p:cNvSpPr>
          <p:nvPr>
            <p:ph type="title"/>
          </p:nvPr>
        </p:nvSpPr>
        <p:spPr/>
        <p:txBody>
          <a:bodyPr>
            <a:noAutofit/>
          </a:bodyPr>
          <a:lstStyle/>
          <a:p>
            <a:r>
              <a:rPr lang="en-US" sz="4000" b="1" dirty="0">
                <a:solidFill>
                  <a:srgbClr val="002060"/>
                </a:solidFill>
                <a:latin typeface="Times New Roman" panose="02020603050405020304" pitchFamily="18" charset="0"/>
                <a:cs typeface="Times New Roman" panose="02020603050405020304" pitchFamily="18" charset="0"/>
              </a:rPr>
              <a:t>Conclusion</a:t>
            </a:r>
            <a:br>
              <a:rPr lang="en-US" sz="4000" b="1" dirty="0">
                <a:solidFill>
                  <a:srgbClr val="002060"/>
                </a:solidFill>
                <a:latin typeface="Times New Roman" panose="02020603050405020304" pitchFamily="18" charset="0"/>
                <a:cs typeface="Times New Roman" panose="02020603050405020304" pitchFamily="18" charset="0"/>
              </a:rPr>
            </a:br>
            <a:endParaRPr lang="en-IN" sz="40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08F866-AACC-DDCC-A7DB-3312AAFF8582}"/>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This project presents an AI-based system for landslide detection using deep learning techniques. It successfully classifies images as landslide or non-landslide and highlights affected regions using segmentation. The system is integrated into a user-friendly web application that provides quick predictions and alerts. It can support early detection and help reduce the impact of natural disasters. Overall, the project demonstrates the effective use of AI in disaster management.</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6876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DB2AC-55B2-5A58-4B27-167AB13B553A}"/>
              </a:ext>
            </a:extLst>
          </p:cNvPr>
          <p:cNvSpPr>
            <a:spLocks noGrp="1"/>
          </p:cNvSpPr>
          <p:nvPr>
            <p:ph type="title"/>
          </p:nvPr>
        </p:nvSpPr>
        <p:spPr>
          <a:xfrm>
            <a:off x="1115616" y="53752"/>
            <a:ext cx="7498080" cy="1143000"/>
          </a:xfrm>
        </p:spPr>
        <p:txBody>
          <a:bodyPr>
            <a:normAutofit/>
          </a:bodyPr>
          <a:lstStyle/>
          <a:p>
            <a:r>
              <a:rPr lang="en-IN" sz="4000" b="1" dirty="0">
                <a:solidFill>
                  <a:srgbClr val="002060"/>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C4F4C104-DB03-28CF-B183-6EE614013FD7}"/>
              </a:ext>
            </a:extLst>
          </p:cNvPr>
          <p:cNvSpPr>
            <a:spLocks noGrp="1"/>
          </p:cNvSpPr>
          <p:nvPr>
            <p:ph idx="1"/>
          </p:nvPr>
        </p:nvSpPr>
        <p:spPr>
          <a:xfrm>
            <a:off x="1005057" y="1196752"/>
            <a:ext cx="8136904" cy="5386610"/>
          </a:xfrm>
        </p:spPr>
        <p:txBody>
          <a:bodyPr>
            <a:noAutofit/>
          </a:bodyPr>
          <a:lstStyle/>
          <a:p>
            <a:pPr marL="82296" indent="0">
              <a:buNone/>
            </a:pPr>
            <a:r>
              <a:rPr lang="en-IN" sz="1400" b="1" dirty="0">
                <a:latin typeface="Times New Roman" panose="02020603050405020304" pitchFamily="18" charset="0"/>
                <a:cs typeface="Times New Roman" panose="02020603050405020304" pitchFamily="18" charset="0"/>
              </a:rPr>
              <a:t>Research Papers</a:t>
            </a:r>
          </a:p>
          <a:p>
            <a:pPr>
              <a:buFont typeface="+mj-lt"/>
              <a:buAutoNum type="arabicPeriod"/>
            </a:pPr>
            <a:r>
              <a:rPr lang="en-IN" sz="1200" dirty="0">
                <a:latin typeface="Times New Roman" panose="02020603050405020304" pitchFamily="18" charset="0"/>
                <a:cs typeface="Times New Roman" panose="02020603050405020304" pitchFamily="18" charset="0"/>
              </a:rPr>
              <a:t>O. Ghorbanzadeh et al.,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“Landslide Detection Using Deep Learning and Object-Based Image Analysis,” </a:t>
            </a:r>
            <a:r>
              <a:rPr lang="en-IN" sz="1200" i="1" dirty="0">
                <a:latin typeface="Times New Roman" panose="02020603050405020304" pitchFamily="18" charset="0"/>
                <a:cs typeface="Times New Roman" panose="02020603050405020304" pitchFamily="18" charset="0"/>
              </a:rPr>
              <a:t>Remote Sensing</a:t>
            </a:r>
            <a:r>
              <a:rPr lang="en-IN" sz="1200" dirty="0">
                <a:latin typeface="Times New Roman" panose="02020603050405020304" pitchFamily="18" charset="0"/>
                <a:cs typeface="Times New Roman" panose="02020603050405020304" pitchFamily="18" charset="0"/>
              </a:rPr>
              <a:t>, 2019.</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hlinkClick r:id="rId2"/>
              </a:rPr>
              <a:t>https://www.researchgate.net/publication/357969745_Landslide_detection_using_deep_learning_and_object-based_image_analysis</a:t>
            </a:r>
            <a:r>
              <a:rPr lang="en-IN" sz="1200" dirty="0">
                <a:latin typeface="Times New Roman" panose="02020603050405020304" pitchFamily="18" charset="0"/>
                <a:cs typeface="Times New Roman" panose="02020603050405020304" pitchFamily="18" charset="0"/>
              </a:rPr>
              <a:t> </a:t>
            </a:r>
          </a:p>
          <a:p>
            <a:pPr>
              <a:buFont typeface="+mj-lt"/>
              <a:buAutoNum type="arabicPeriod"/>
            </a:pPr>
            <a:r>
              <a:rPr lang="en-IN" sz="1200" dirty="0">
                <a:latin typeface="Times New Roman" panose="02020603050405020304" pitchFamily="18" charset="0"/>
                <a:cs typeface="Times New Roman" panose="02020603050405020304" pitchFamily="18" charset="0"/>
              </a:rPr>
              <a:t>H. Shahabi et al.,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“Unsupervised Deep Learning for Landslide Detection from Remote Sensing Images,” </a:t>
            </a:r>
            <a:r>
              <a:rPr lang="en-IN" sz="1200" i="1" dirty="0">
                <a:latin typeface="Times New Roman" panose="02020603050405020304" pitchFamily="18" charset="0"/>
                <a:cs typeface="Times New Roman" panose="02020603050405020304" pitchFamily="18" charset="0"/>
              </a:rPr>
              <a:t>Remote Sensing</a:t>
            </a:r>
            <a:r>
              <a:rPr lang="en-IN" sz="1200" dirty="0">
                <a:latin typeface="Times New Roman" panose="02020603050405020304" pitchFamily="18" charset="0"/>
                <a:cs typeface="Times New Roman" panose="02020603050405020304" pitchFamily="18" charset="0"/>
              </a:rPr>
              <a:t>, 2021.</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hlinkClick r:id="rId3"/>
              </a:rPr>
              <a:t>https://www.mdpi.com/2072-4292/13/22/4698</a:t>
            </a:r>
            <a:r>
              <a:rPr lang="en-IN" sz="1200" dirty="0">
                <a:latin typeface="Times New Roman" panose="02020603050405020304" pitchFamily="18" charset="0"/>
                <a:cs typeface="Times New Roman" panose="02020603050405020304" pitchFamily="18" charset="0"/>
              </a:rPr>
              <a:t> </a:t>
            </a:r>
          </a:p>
          <a:p>
            <a:pPr>
              <a:buFont typeface="+mj-lt"/>
              <a:buAutoNum type="arabicPeriod"/>
            </a:pPr>
            <a:r>
              <a:rPr lang="en-IN" sz="1200" dirty="0">
                <a:latin typeface="Times New Roman" panose="02020603050405020304" pitchFamily="18" charset="0"/>
                <a:cs typeface="Times New Roman" panose="02020603050405020304" pitchFamily="18" charset="0"/>
              </a:rPr>
              <a:t>S. Qin et al.,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“Landslide Detection from Open Satellite Imagery Using Distant Domain Transfer Learning,” </a:t>
            </a:r>
            <a:r>
              <a:rPr lang="en-IN" sz="1200" i="1" dirty="0">
                <a:latin typeface="Times New Roman" panose="02020603050405020304" pitchFamily="18" charset="0"/>
                <a:cs typeface="Times New Roman" panose="02020603050405020304" pitchFamily="18" charset="0"/>
              </a:rPr>
              <a:t>Remote Sensing</a:t>
            </a:r>
            <a:r>
              <a:rPr lang="en-IN" sz="1200" dirty="0">
                <a:latin typeface="Times New Roman" panose="02020603050405020304" pitchFamily="18" charset="0"/>
                <a:cs typeface="Times New Roman" panose="02020603050405020304" pitchFamily="18" charset="0"/>
              </a:rPr>
              <a:t>, 2021.</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hlinkClick r:id="rId4"/>
              </a:rPr>
              <a:t>https://www.mdpi.com/2072-4292/13/17/3383</a:t>
            </a:r>
            <a:r>
              <a:rPr lang="en-IN" sz="1200" dirty="0">
                <a:latin typeface="Times New Roman" panose="02020603050405020304" pitchFamily="18" charset="0"/>
                <a:cs typeface="Times New Roman" panose="02020603050405020304" pitchFamily="18" charset="0"/>
              </a:rPr>
              <a:t> </a:t>
            </a:r>
          </a:p>
          <a:p>
            <a:pPr>
              <a:buFont typeface="+mj-lt"/>
              <a:buAutoNum type="arabicPeriod"/>
            </a:pPr>
            <a:r>
              <a:rPr lang="en-IN" sz="1200" dirty="0">
                <a:latin typeface="Times New Roman" panose="02020603050405020304" pitchFamily="18" charset="0"/>
                <a:cs typeface="Times New Roman" panose="02020603050405020304" pitchFamily="18" charset="0"/>
              </a:rPr>
              <a:t>Z. Wang et al.,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“Delimitation of Landslide Areas in Optical Remote Sensing Images Across Regions via Deep Transfer Learning,” 2024.</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hlinkClick r:id="rId5"/>
              </a:rPr>
              <a:t>https://ris.utwente.nl/ws/portalfiles/portal/492888704/Delimitation_of_Landslide_Areas_in_Optical_Remote_Sensing_Images_Across_Regions_via_Deep_Transfer_Learning.pdf</a:t>
            </a:r>
            <a:r>
              <a:rPr lang="en-IN" sz="1200" dirty="0">
                <a:latin typeface="Times New Roman" panose="02020603050405020304" pitchFamily="18" charset="0"/>
                <a:cs typeface="Times New Roman" panose="02020603050405020304" pitchFamily="18" charset="0"/>
              </a:rPr>
              <a:t> </a:t>
            </a:r>
          </a:p>
          <a:p>
            <a:pPr>
              <a:buFont typeface="+mj-lt"/>
              <a:buAutoNum type="arabicPeriod"/>
            </a:pPr>
            <a:endParaRPr lang="en-IN" sz="1200" dirty="0">
              <a:latin typeface="Times New Roman" panose="02020603050405020304" pitchFamily="18" charset="0"/>
              <a:cs typeface="Times New Roman" panose="02020603050405020304" pitchFamily="18" charset="0"/>
            </a:endParaRPr>
          </a:p>
          <a:p>
            <a:pPr marL="82296" indent="0">
              <a:buNone/>
            </a:pPr>
            <a:r>
              <a:rPr lang="en-IN" sz="1400" b="1" dirty="0">
                <a:latin typeface="Times New Roman" panose="02020603050405020304" pitchFamily="18" charset="0"/>
                <a:cs typeface="Times New Roman" panose="02020603050405020304" pitchFamily="18" charset="0"/>
              </a:rPr>
              <a:t>Web References</a:t>
            </a:r>
          </a:p>
          <a:p>
            <a:pPr>
              <a:buFont typeface="+mj-lt"/>
              <a:buAutoNum type="arabicPeriod"/>
            </a:pPr>
            <a:r>
              <a:rPr lang="en-IN" sz="1200" dirty="0">
                <a:latin typeface="Times New Roman" panose="02020603050405020304" pitchFamily="18" charset="0"/>
                <a:cs typeface="Times New Roman" panose="02020603050405020304" pitchFamily="18" charset="0"/>
                <a:hlinkClick r:id="rId6"/>
              </a:rPr>
              <a:t>https://earthdata.nasa.gov</a:t>
            </a:r>
            <a:r>
              <a:rPr lang="en-IN" sz="1200" dirty="0">
                <a:latin typeface="Times New Roman" panose="02020603050405020304" pitchFamily="18" charset="0"/>
                <a:cs typeface="Times New Roman" panose="02020603050405020304" pitchFamily="18" charset="0"/>
              </a:rPr>
              <a:t> </a:t>
            </a:r>
          </a:p>
          <a:p>
            <a:pPr>
              <a:buFont typeface="+mj-lt"/>
              <a:buAutoNum type="arabicPeriod"/>
            </a:pPr>
            <a:r>
              <a:rPr lang="en-IN" sz="1200" dirty="0">
                <a:latin typeface="Times New Roman" panose="02020603050405020304" pitchFamily="18" charset="0"/>
                <a:cs typeface="Times New Roman" panose="02020603050405020304" pitchFamily="18" charset="0"/>
                <a:hlinkClick r:id="rId7"/>
              </a:rPr>
              <a:t>https://www.geeksforgeeks.org/machine-learning/</a:t>
            </a:r>
            <a:r>
              <a:rPr lang="en-IN" sz="1200" dirty="0">
                <a:latin typeface="Times New Roman" panose="02020603050405020304" pitchFamily="18" charset="0"/>
                <a:cs typeface="Times New Roman" panose="02020603050405020304" pitchFamily="18" charset="0"/>
              </a:rPr>
              <a:t> </a:t>
            </a:r>
          </a:p>
          <a:p>
            <a:pPr>
              <a:buFont typeface="+mj-lt"/>
              <a:buAutoNum type="arabicPeriod"/>
            </a:pPr>
            <a:endParaRPr lang="en-IN" sz="1400" dirty="0">
              <a:latin typeface="Times New Roman" panose="02020603050405020304" pitchFamily="18" charset="0"/>
              <a:cs typeface="Times New Roman" panose="02020603050405020304" pitchFamily="18" charset="0"/>
            </a:endParaRPr>
          </a:p>
          <a:p>
            <a:pPr marL="82296" indent="0">
              <a:buNone/>
            </a:pPr>
            <a:r>
              <a:rPr lang="en-IN" sz="1400" b="1" dirty="0">
                <a:latin typeface="Times New Roman" panose="02020603050405020304" pitchFamily="18" charset="0"/>
                <a:cs typeface="Times New Roman" panose="02020603050405020304" pitchFamily="18" charset="0"/>
              </a:rPr>
              <a:t>Book References</a:t>
            </a:r>
          </a:p>
          <a:p>
            <a:pPr>
              <a:buFont typeface="+mj-lt"/>
              <a:buAutoNum type="arabicPeriod"/>
            </a:pPr>
            <a:r>
              <a:rPr lang="en-IN" sz="1200" i="1" dirty="0">
                <a:latin typeface="Times New Roman" panose="02020603050405020304" pitchFamily="18" charset="0"/>
                <a:cs typeface="Times New Roman" panose="02020603050405020304" pitchFamily="18" charset="0"/>
              </a:rPr>
              <a:t>Remote Sensing and GIS for Natural Hazards Assessment</a:t>
            </a:r>
            <a:r>
              <a:rPr lang="en-IN" sz="1200" dirty="0">
                <a:latin typeface="Times New Roman" panose="02020603050405020304" pitchFamily="18" charset="0"/>
                <a:cs typeface="Times New Roman" panose="02020603050405020304" pitchFamily="18" charset="0"/>
              </a:rPr>
              <a:t> – J. van Westen </a:t>
            </a:r>
          </a:p>
          <a:p>
            <a:pPr>
              <a:buFont typeface="+mj-lt"/>
              <a:buAutoNum type="arabicPeriod"/>
            </a:pPr>
            <a:r>
              <a:rPr lang="en-IN" sz="1200" i="1" dirty="0">
                <a:latin typeface="Times New Roman" panose="02020603050405020304" pitchFamily="18" charset="0"/>
                <a:cs typeface="Times New Roman" panose="02020603050405020304" pitchFamily="18" charset="0"/>
              </a:rPr>
              <a:t>Data Mining: Concepts and Techniques</a:t>
            </a:r>
            <a:r>
              <a:rPr lang="en-IN" sz="1200" dirty="0">
                <a:latin typeface="Times New Roman" panose="02020603050405020304" pitchFamily="18" charset="0"/>
                <a:cs typeface="Times New Roman" panose="02020603050405020304" pitchFamily="18" charset="0"/>
              </a:rPr>
              <a:t> – Jiawei Han &amp; Micheline Kamber</a:t>
            </a:r>
          </a:p>
          <a:p>
            <a:pPr marL="82296" indent="0">
              <a:buNone/>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98718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1209</TotalTime>
  <Words>1770</Words>
  <Application>Microsoft Office PowerPoint</Application>
  <PresentationFormat>On-screen Show (4:3)</PresentationFormat>
  <Paragraphs>225</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Courier New</vt:lpstr>
      <vt:lpstr>Gill Sans MT</vt:lpstr>
      <vt:lpstr>Times New Roman</vt:lpstr>
      <vt:lpstr>Verdana</vt:lpstr>
      <vt:lpstr>Wingdings</vt:lpstr>
      <vt:lpstr>Wingdings 2</vt:lpstr>
      <vt:lpstr>Solstice</vt:lpstr>
      <vt:lpstr>PowerPoint Presentation</vt:lpstr>
      <vt:lpstr>Introduction</vt:lpstr>
      <vt:lpstr>Literature Review</vt:lpstr>
      <vt:lpstr>Problem Statement</vt:lpstr>
      <vt:lpstr>Objectives</vt:lpstr>
      <vt:lpstr>Motivation </vt:lpstr>
      <vt:lpstr>Existing System</vt:lpstr>
      <vt:lpstr>Block Diagram Of System</vt:lpstr>
      <vt:lpstr>Block Diagram Explanation</vt:lpstr>
      <vt:lpstr>Modules of the System</vt:lpstr>
      <vt:lpstr>Dataset :</vt:lpstr>
      <vt:lpstr>Methodology</vt:lpstr>
      <vt:lpstr>Algorithm Used </vt:lpstr>
      <vt:lpstr>Project Scope</vt:lpstr>
      <vt:lpstr>Requirement Specification</vt:lpstr>
      <vt:lpstr>Feasibility Study</vt:lpstr>
      <vt:lpstr>Requirement Engineering</vt:lpstr>
      <vt:lpstr>Software Requirement Specification (SRS) </vt:lpstr>
      <vt:lpstr>Results :</vt:lpstr>
      <vt:lpstr>PowerPoint Presentation</vt:lpstr>
      <vt:lpstr>MODULS  Screenshot</vt:lpstr>
      <vt:lpstr>PowerPoint Presentation</vt:lpstr>
      <vt:lpstr>PowerPoint Presentation</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PROJ_17</dc:creator>
  <cp:lastModifiedBy>MANALI THORAT</cp:lastModifiedBy>
  <cp:revision>200</cp:revision>
  <dcterms:created xsi:type="dcterms:W3CDTF">2019-07-24T17:40:56Z</dcterms:created>
  <dcterms:modified xsi:type="dcterms:W3CDTF">2026-04-17T08:09:31Z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976dda59665f4d4cb89088cd9114b213</vt:lpwstr>
  </property>
</Properties>
</file>